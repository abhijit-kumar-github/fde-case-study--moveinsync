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3.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4.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nswer" id="{c93098bb-bd6f-625b-d16e-7d2f9087c61c}">
          <p14:sldIdLst>
            <p14:sldId id="256"/>
            <p14:sldId id="257"/>
          </p14:sldIdLst>
        </p14:section>
        <p14:section name="Diagnosis" id="{116d29e3-9177-3849-37ca-e632dfe7c1ed}">
          <p14:sldIdLst>
            <p14:sldId id="258"/>
            <p14:sldId id="259"/>
            <p14:sldId id="260"/>
            <p14:sldId id="261"/>
            <p14:sldId id="262"/>
          </p14:sldIdLst>
        </p14:section>
        <p14:section name="Plan" id="{d984a520-f506-8ed7-47fe-8208f4094a34}">
          <p14:sldIdLst>
            <p14:sldId id="263"/>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3D4A5C"/>
                </a:solidFill>
                <a:latin typeface="+mn-lt"/>
              </a:defRPr>
            </a:pPr>
            <a:r>
              <a:rPr sz="1200" b="0" i="0" u="none" strike="noStrike">
                <a:solidFill>
                  <a:srgbClr val="3D4A5C"/>
                </a:solidFill>
                <a:latin typeface="+mn-lt"/>
              </a:rPr>
              <a:t>Play Store rating, India storefront (number of ratings)</a:t>
            </a:r>
          </a:p>
        </c:rich>
      </c:tx>
      <c:layout/>
      <c:overlay val="0"/>
    </c:title>
    <c:autoTitleDeleted val="0"/>
    <c:plotArea>
      <c:layout/>
      <c:barChart>
        <c:barDir val="bar"/>
        <c:grouping val="clustered"/>
        <c:varyColors val="0"/>
        <c:ser>
          <c:idx val="0"/>
          <c:order val="0"/>
          <c:tx>
            <c:strRef>
              <c:f>Sheet1!$B$1</c:f>
              <c:strCache>
                <c:ptCount val="1"/>
                <c:pt idx="0">
                  <c:v>Rating</c:v>
                </c:pt>
              </c:strCache>
            </c:strRef>
          </c:tx>
          <c:spPr>
            <a:solidFill>
              <a:srgbClr val="9AA5B1"/>
            </a:solidFill>
            <a:effectLst/>
          </c:spPr>
          <c:invertIfNegative val="0"/>
          <c:dLbls>
            <c:numFmt formatCode="0.00" sourceLinked="0"/>
            <c:txPr>
              <a:bodyPr/>
              <a:lstStyle/>
              <a:p>
                <a:pPr>
                  <a:defRPr b="0" i="0" strike="noStrike" sz="1000" u="none">
                    <a:solidFill>
                      <a:srgbClr val="14213D"/>
                    </a:solidFill>
                    <a:latin typeface="+mn-lt"/>
                  </a:defRPr>
                </a:pPr>
              </a:p>
            </c:txPr>
            <c:showLegendKey val="0"/>
            <c:showVal val="1"/>
            <c:showCatName val="0"/>
            <c:showSerName val="0"/>
            <c:showPercent val="0"/>
            <c:showBubbleSize val="0"/>
            <c:showLeaderLines val="0"/>
          </c:dLbls>
          <c:dPt>
            <c:idx val="0"/>
            <c:invertIfNegative val="0"/>
            <c:bubble3D val="0"/>
            <c:spPr>
              <a:solidFill>
                <a:srgbClr val="9AA5B1"/>
              </a:solidFill>
              <a:effectLst/>
            </c:spPr>
          </c:dPt>
          <c:dPt>
            <c:idx val="1"/>
            <c:invertIfNegative val="0"/>
            <c:bubble3D val="0"/>
            <c:spPr>
              <a:solidFill>
                <a:srgbClr val="9AA5B1"/>
              </a:solidFill>
              <a:effectLst/>
            </c:spPr>
          </c:dPt>
          <c:dPt>
            <c:idx val="2"/>
            <c:invertIfNegative val="0"/>
            <c:bubble3D val="0"/>
            <c:spPr>
              <a:solidFill>
                <a:srgbClr val="9AA5B1"/>
              </a:solidFill>
              <a:effectLst/>
            </c:spPr>
          </c:dPt>
          <c:dPt>
            <c:idx val="3"/>
            <c:invertIfNegative val="0"/>
            <c:bubble3D val="0"/>
            <c:spPr>
              <a:solidFill>
                <a:srgbClr val="9AA5B1"/>
              </a:solidFill>
              <a:effectLst/>
            </c:spPr>
          </c:dPt>
          <c:dPt>
            <c:idx val="4"/>
            <c:invertIfNegative val="0"/>
            <c:bubble3D val="0"/>
            <c:spPr>
              <a:solidFill>
                <a:srgbClr val="9AA5B1"/>
              </a:solidFill>
              <a:effectLst/>
            </c:spPr>
          </c:dPt>
          <c:dPt>
            <c:idx val="5"/>
            <c:invertIfNegative val="0"/>
            <c:bubble3D val="0"/>
            <c:spPr>
              <a:solidFill>
                <a:srgbClr val="9AA5B1"/>
              </a:solidFill>
              <a:effectLst/>
            </c:spPr>
          </c:dPt>
          <c:dPt>
            <c:idx val="6"/>
            <c:invertIfNegative val="0"/>
            <c:bubble3D val="0"/>
            <c:spPr>
              <a:solidFill>
                <a:srgbClr val="F2A541"/>
              </a:solidFill>
              <a:effectLst/>
            </c:spPr>
          </c:dPt>
          <c:dPt>
            <c:idx val="7"/>
            <c:invertIfNegative val="0"/>
            <c:bubble3D val="0"/>
            <c:spPr>
              <a:solidFill>
                <a:srgbClr val="9AA5B1"/>
              </a:solidFill>
              <a:effectLst/>
            </c:spPr>
          </c:dPt>
          <c:cat>
            <c:multiLvlStrRef>
              <c:f>Sheet1!$A$2:$A$9</c:f>
              <c:multiLvlStrCache>
                <c:ptCount val="8"/>
                <c:lvl>
                  <c:pt idx="0">
                    <c:v>COMMUTE, Proficio (609)</c:v>
                  </c:pt>
                  <c:pt idx="1">
                    <c:v>eFmFm Employee (4.9K)</c:v>
                  </c:pt>
                  <c:pt idx="2">
                    <c:v>SMT Employee (835)</c:v>
                  </c:pt>
                  <c:pt idx="3">
                    <c:v>NeOffice Commute (253)</c:v>
                  </c:pt>
                  <c:pt idx="4">
                    <c:v>Routematic (35K)</c:v>
                  </c:pt>
                  <c:pt idx="5">
                    <c:v>Safetrax, older app (1.1K)</c:v>
                  </c:pt>
                  <c:pt idx="6">
                    <c:v>MoveInSync (115K)</c:v>
                  </c:pt>
                  <c:pt idx="7">
                    <c:v>Safetrax Commuter (24K)</c:v>
                  </c:pt>
                </c:lvl>
              </c:multiLvlStrCache>
            </c:multiLvlStrRef>
          </c:cat>
          <c:val>
            <c:numRef>
              <c:f>Sheet1!$B$2:$B$9</c:f>
              <c:numCache>
                <c:formatCode>General</c:formatCode>
                <c:ptCount val="8"/>
                <c:pt idx="0">
                  <c:v>2.52</c:v>
                </c:pt>
                <c:pt idx="1">
                  <c:v>2.814</c:v>
                </c:pt>
                <c:pt idx="2">
                  <c:v>3.175</c:v>
                </c:pt>
                <c:pt idx="3">
                  <c:v>3.49</c:v>
                </c:pt>
                <c:pt idx="4">
                  <c:v>4.339</c:v>
                </c:pt>
                <c:pt idx="5">
                  <c:v>4.557</c:v>
                </c:pt>
                <c:pt idx="6">
                  <c:v>4.639</c:v>
                </c:pt>
                <c:pt idx="7">
                  <c:v>4.72</c:v>
                </c:pt>
              </c:numCache>
            </c:numRef>
          </c:val>
        </c:ser>
        <c:dLbls>
          <c:numFmt formatCode="0.00" sourceLinked="0"/>
          <c:txPr>
            <a:bodyPr/>
            <a:lstStyle/>
            <a:p>
              <a:pPr>
                <a:defRPr b="0" i="0" strike="noStrike" sz="1000" u="none">
                  <a:solidFill>
                    <a:srgbClr val="14213D"/>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3D4A5C"/>
                </a:solidFill>
                <a:latin typeface="+mn-lt"/>
              </a:defRPr>
            </a:pPr>
            <a:endParaRPr lang="en-US"/>
          </a:p>
        </c:txPr>
        <c:crossAx val="2094734552"/>
        <c:crosses val="autoZero"/>
        <c:auto val="1"/>
        <c:lblAlgn val="ctr"/>
        <c:noMultiLvlLbl val="1"/>
      </c:catAx>
      <c:valAx>
        <c:axId val="2094734552"/>
        <c:scaling>
          <c:orientation val="minMax"/>
          <c:max val="5"/>
          <c:min val="0"/>
        </c:scaling>
        <c:delete val="0"/>
        <c:axPos val="b"/>
        <c:majorGridlines>
          <c:spPr>
            <a:ln w="9525" cap="flat">
              <a:solidFill>
                <a:srgbClr val="E5E7E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3D4A5C"/>
                </a:solidFill>
                <a:latin typeface="+mn-lt"/>
              </a:defRPr>
            </a:pPr>
            <a:endParaRPr lang="en-US"/>
          </a:p>
        </c:txPr>
        <c:crossAx val="2094734554"/>
        <c:crosses val="autoZero"/>
        <c:crossBetween val="between"/>
        <c:majorUnit val="1"/>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3D4A5C"/>
                </a:solidFill>
                <a:latin typeface="+mn-lt"/>
              </a:defRPr>
            </a:pPr>
            <a:r>
              <a:rPr sz="1200" b="0" i="0" u="none" strike="noStrike">
                <a:solidFill>
                  <a:srgbClr val="3D4A5C"/>
                </a:solidFill>
                <a:latin typeface="+mn-lt"/>
              </a:rPr>
              <a:t>Share of reviews with a developer reply, by quarter</a:t>
            </a:r>
          </a:p>
        </c:rich>
      </c:tx>
      <c:layout/>
      <c:overlay val="0"/>
    </c:title>
    <c:autoTitleDeleted val="0"/>
    <c:plotArea>
      <c:layout/>
      <c:lineChart>
        <c:varyColors val="0"/>
        <c:ser>
          <c:idx val="0"/>
          <c:order val="0"/>
          <c:tx>
            <c:strRef>
              <c:f>Sheet1!$B$1</c:f>
              <c:strCache>
                <c:ptCount val="1"/>
                <c:pt idx="0">
                  <c:v>Reply rate</c:v>
                </c:pt>
              </c:strCache>
            </c:strRef>
          </c:tx>
          <c:spPr>
            <a:solidFill>
              <a:srgbClr val="2A6F97"/>
            </a:solidFill>
            <a:ln w="25400" cap="flat">
              <a:solidFill>
                <a:srgbClr val="2A6F97"/>
              </a:solidFill>
              <a:prstDash val="solid"/>
              <a:round/>
            </a:ln>
            <a:effectLst/>
          </c:spPr>
          <c:invertIfNegative val="0"/>
          <c:dLbls>
            <c:numFmt formatCode="#,##0" sourceLinked="0"/>
            <c:txPr>
              <a:bodyPr/>
              <a:lstStyle/>
              <a:p>
                <a:pPr>
                  <a:defRPr b="0" i="0" strike="noStrike" sz="1000" u="none">
                    <a:solidFill>
                      <a:srgbClr val="14213D"/>
                    </a:solidFill>
                    <a:latin typeface="+mn-lt"/>
                  </a:defRPr>
                </a:pPr>
              </a:p>
            </c:txPr>
            <c:showLegendKey val="0"/>
            <c:showVal val="0"/>
            <c:showCatName val="0"/>
            <c:showSerName val="0"/>
            <c:showPercent val="0"/>
            <c:showBubbleSize val="0"/>
            <c:showLeaderLines val="0"/>
          </c:dLbls>
          <c:marker>
            <c:symbol val="circle"/>
            <c:size val="5"/>
            <c:spPr>
              <a:solidFill>
                <a:srgbClr val="2A6F97"/>
              </a:solidFill>
              <a:ln w="9525" cap="flat">
                <a:solidFill>
                  <a:srgbClr val="2A6F97"/>
                </a:solidFill>
                <a:prstDash val="solid"/>
                <a:round/>
              </a:ln>
              <a:effectLst/>
            </c:spPr>
          </c:marker>
          <c:cat>
            <c:multiLvlStrRef>
              <c:f>Sheet1!$A$2:$A$20</c:f>
              <c:multiLvlStrCache>
                <c:ptCount val="19"/>
                <c:lvl>
                  <c:pt idx="0">
                    <c:v>2022</c:v>
                  </c:pt>
                  <c:pt idx="1">
                    <c:v/>
                  </c:pt>
                  <c:pt idx="2">
                    <c:v/>
                  </c:pt>
                  <c:pt idx="3">
                    <c:v/>
                  </c:pt>
                  <c:pt idx="4">
                    <c:v>2023</c:v>
                  </c:pt>
                  <c:pt idx="5">
                    <c:v/>
                  </c:pt>
                  <c:pt idx="6">
                    <c:v/>
                  </c:pt>
                  <c:pt idx="7">
                    <c:v/>
                  </c:pt>
                  <c:pt idx="8">
                    <c:v>2024</c:v>
                  </c:pt>
                  <c:pt idx="9">
                    <c:v/>
                  </c:pt>
                  <c:pt idx="10">
                    <c:v/>
                  </c:pt>
                  <c:pt idx="11">
                    <c:v/>
                  </c:pt>
                  <c:pt idx="12">
                    <c:v>2025</c:v>
                  </c:pt>
                  <c:pt idx="13">
                    <c:v/>
                  </c:pt>
                  <c:pt idx="14">
                    <c:v/>
                  </c:pt>
                  <c:pt idx="15">
                    <c:v/>
                  </c:pt>
                  <c:pt idx="16">
                    <c:v>2026</c:v>
                  </c:pt>
                  <c:pt idx="17">
                    <c:v/>
                  </c:pt>
                  <c:pt idx="18">
                    <c:v/>
                  </c:pt>
                </c:lvl>
              </c:multiLvlStrCache>
            </c:multiLvlStrRef>
          </c:cat>
          <c:val>
            <c:numRef>
              <c:f>Sheet1!$B$2:$B$20</c:f>
              <c:numCache>
                <c:formatCode>General</c:formatCode>
                <c:ptCount val="19"/>
                <c:pt idx="0">
                  <c:v>0.7049666666666666</c:v>
                </c:pt>
                <c:pt idx="1">
                  <c:v>0.7534666666666666</c:v>
                </c:pt>
                <c:pt idx="2">
                  <c:v>0.9834333333333333</c:v>
                </c:pt>
                <c:pt idx="3">
                  <c:v>0.9723333333333333</c:v>
                </c:pt>
                <c:pt idx="4">
                  <c:v>0.9901666666666668</c:v>
                </c:pt>
                <c:pt idx="5">
                  <c:v>0.9844333333333334</c:v>
                </c:pt>
                <c:pt idx="6">
                  <c:v>0.9662666666666665</c:v>
                </c:pt>
                <c:pt idx="7">
                  <c:v>0.9794333333333333</c:v>
                </c:pt>
                <c:pt idx="8">
                  <c:v>0.9752666666666667</c:v>
                </c:pt>
                <c:pt idx="9">
                  <c:v>0.5252666666666667</c:v>
                </c:pt>
                <c:pt idx="10">
                  <c:v>0.017033333333333334</c:v>
                </c:pt>
                <c:pt idx="11">
                  <c:v>0.014233333333333334</c:v>
                </c:pt>
                <c:pt idx="12">
                  <c:v>0.02943333333333333</c:v>
                </c:pt>
                <c:pt idx="13">
                  <c:v>0.014333333333333332</c:v>
                </c:pt>
                <c:pt idx="14">
                  <c:v>0.03516666666666667</c:v>
                </c:pt>
                <c:pt idx="15">
                  <c:v>0.10946666666666667</c:v>
                </c:pt>
                <c:pt idx="16">
                  <c:v>0.017633333333333334</c:v>
                </c:pt>
                <c:pt idx="17">
                  <c:v>0.004900000000000001</c:v>
                </c:pt>
                <c:pt idx="18">
                  <c:v>0.0039000000000000007</c:v>
                </c:pt>
              </c:numCache>
            </c:numRef>
          </c:val>
          <c:smooth val="0"/>
        </c:ser>
        <c:dLbls>
          <c:numFmt formatCode="#,##0" sourceLinked="0"/>
          <c:txPr>
            <a:bodyPr/>
            <a:lstStyle/>
            <a:p>
              <a:pPr>
                <a:defRPr b="0" i="0" strike="noStrike" sz="1000" u="none">
                  <a:solidFill>
                    <a:srgbClr val="14213D"/>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D4A5C"/>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9525" cap="flat">
              <a:solidFill>
                <a:srgbClr val="E5E7EB"/>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3D4A5C"/>
                </a:solidFill>
                <a:latin typeface="+mn-lt"/>
              </a:defRPr>
            </a:pPr>
            <a:endParaRPr lang="en-US"/>
          </a:p>
        </c:txPr>
        <c:crossAx val="2094734554"/>
        <c:crosses val="autoZero"/>
        <c:crossBetween val="between"/>
        <c:majorUnit val="0.25"/>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3D4A5C"/>
                </a:solidFill>
                <a:latin typeface="+mn-lt"/>
              </a:defRPr>
            </a:pPr>
            <a:r>
              <a:rPr sz="1200" b="0" i="0" u="none" strike="noStrike">
                <a:solidFill>
                  <a:srgbClr val="3D4A5C"/>
                </a:solidFill>
                <a:latin typeface="+mn-lt"/>
              </a:rPr>
              <a:t>1–2★ reviews mentioning each stage, last 12 months</a:t>
            </a:r>
          </a:p>
        </c:rich>
      </c:tx>
      <c:layout/>
      <c:overlay val="0"/>
    </c:title>
    <c:autoTitleDeleted val="0"/>
    <c:plotArea>
      <c:layout/>
      <c:barChart>
        <c:barDir val="bar"/>
        <c:grouping val="stacked"/>
        <c:varyColors val="0"/>
        <c:ser>
          <c:idx val="0"/>
          <c:order val="0"/>
          <c:tx>
            <c:strRef>
              <c:f>Sheet1!$B$1</c:f>
              <c:strCache>
                <c:ptCount val="1"/>
                <c:pt idx="0">
                  <c:v>App</c:v>
                </c:pt>
              </c:strCache>
            </c:strRef>
          </c:tx>
          <c:spPr>
            <a:solidFill>
              <a:srgbClr val="2A6F97"/>
            </a:solidFill>
            <a:effectLst/>
          </c:spPr>
          <c:invertIfNegative val="0"/>
          <c:dLbls>
            <c:numFmt formatCode="#,##0" sourceLinked="0"/>
            <c:txPr>
              <a:bodyPr/>
              <a:lstStyle/>
              <a:p>
                <a:pPr>
                  <a:defRPr b="0" i="0" strike="noStrike" sz="1000" u="none">
                    <a:solidFill>
                      <a:srgbClr val="14213D"/>
                    </a:solidFill>
                    <a:latin typeface="+mn-lt"/>
                  </a:defRPr>
                </a:pPr>
              </a:p>
            </c:txPr>
            <c:showLegendKey val="0"/>
            <c:showVal val="0"/>
            <c:showCatName val="0"/>
            <c:showSerName val="0"/>
            <c:showPercent val="0"/>
            <c:showBubbleSize val="0"/>
            <c:showLeaderLines val="0"/>
          </c:dLbls>
          <c:cat>
            <c:multiLvlStrRef>
              <c:f>Sheet1!$A$2:$A$11</c:f>
              <c:multiLvlStrCache>
                <c:ptCount val="10"/>
                <c:lvl>
                  <c:pt idx="0">
                    <c:v>Ride &amp; drop</c:v>
                  </c:pt>
                  <c:pt idx="1">
                    <c:v>Notifications</c:v>
                  </c:pt>
                  <c:pt idx="2">
                    <c:v>Live tracking &amp; ETA</c:v>
                  </c:pt>
                  <c:pt idx="3">
                    <c:v>Allocation &amp; routing</c:v>
                  </c:pt>
                  <c:pt idx="4">
                    <c:v>Pickup &amp; boarding</c:v>
                  </c:pt>
                  <c:pt idx="5">
                    <c:v>Self-booking</c:v>
                  </c:pt>
                  <c:pt idx="6">
                    <c:v>Issue reporting &amp; support</c:v>
                  </c:pt>
                  <c:pt idx="7">
                    <c:v>UI &amp; interruptions</c:v>
                  </c:pt>
                  <c:pt idx="8">
                    <c:v>Login &amp; home address</c:v>
                  </c:pt>
                  <c:pt idx="9">
                    <c:v>App stability &amp; speed</c:v>
                  </c:pt>
                </c:lvl>
              </c:multiLvlStrCache>
            </c:multiLvlStrRef>
          </c:cat>
          <c:val>
            <c:numRef>
              <c:f>Sheet1!$B$2:$B$11</c:f>
              <c:numCache>
                <c:formatCode>General</c:formatCode>
                <c:ptCount val="10"/>
                <c:pt idx="0">
                  <c:v>0</c:v>
                </c:pt>
                <c:pt idx="1">
                  <c:v>30</c:v>
                </c:pt>
                <c:pt idx="2">
                  <c:v>61</c:v>
                </c:pt>
                <c:pt idx="3">
                  <c:v>0</c:v>
                </c:pt>
                <c:pt idx="4">
                  <c:v>40</c:v>
                </c:pt>
                <c:pt idx="5">
                  <c:v>59</c:v>
                </c:pt>
                <c:pt idx="6">
                  <c:v>22</c:v>
                </c:pt>
                <c:pt idx="7">
                  <c:v>75</c:v>
                </c:pt>
                <c:pt idx="8">
                  <c:v>112</c:v>
                </c:pt>
                <c:pt idx="9">
                  <c:v>126</c:v>
                </c:pt>
              </c:numCache>
            </c:numRef>
          </c:val>
        </c:ser>
        <c:ser>
          <c:idx val="1"/>
          <c:order val="1"/>
          <c:tx>
            <c:strRef>
              <c:f>Sheet1!$C$1</c:f>
              <c:strCache>
                <c:ptCount val="1"/>
                <c:pt idx="0">
                  <c:v>App + operations</c:v>
                </c:pt>
              </c:strCache>
            </c:strRef>
          </c:tx>
          <c:spPr>
            <a:solidFill>
              <a:srgbClr val="9AA5B1"/>
            </a:solidFill>
            <a:effectLst/>
          </c:spPr>
          <c:invertIfNegative val="0"/>
          <c:dLbls>
            <c:numFmt formatCode="#,##0" sourceLinked="0"/>
            <c:txPr>
              <a:bodyPr/>
              <a:lstStyle/>
              <a:p>
                <a:pPr>
                  <a:defRPr b="0" i="0" strike="noStrike" sz="1000" u="none">
                    <a:solidFill>
                      <a:srgbClr val="14213D"/>
                    </a:solidFill>
                    <a:latin typeface="+mn-lt"/>
                  </a:defRPr>
                </a:pPr>
              </a:p>
            </c:txPr>
            <c:showLegendKey val="0"/>
            <c:showVal val="0"/>
            <c:showCatName val="0"/>
            <c:showSerName val="0"/>
            <c:showPercent val="0"/>
            <c:showBubbleSize val="0"/>
            <c:showLeaderLines val="0"/>
          </c:dLbls>
          <c:cat>
            <c:multiLvlStrRef>
              <c:f>Sheet1!$A$2:$A$11</c:f>
              <c:multiLvlStrCache>
                <c:ptCount val="10"/>
                <c:lvl>
                  <c:pt idx="0">
                    <c:v>Ride &amp; drop</c:v>
                  </c:pt>
                  <c:pt idx="1">
                    <c:v>Notifications</c:v>
                  </c:pt>
                  <c:pt idx="2">
                    <c:v>Live tracking &amp; ETA</c:v>
                  </c:pt>
                  <c:pt idx="3">
                    <c:v>Allocation &amp; routing</c:v>
                  </c:pt>
                  <c:pt idx="4">
                    <c:v>Pickup &amp; boarding</c:v>
                  </c:pt>
                  <c:pt idx="5">
                    <c:v>Self-booking</c:v>
                  </c:pt>
                  <c:pt idx="6">
                    <c:v>Issue reporting &amp; support</c:v>
                  </c:pt>
                  <c:pt idx="7">
                    <c:v>UI &amp; interruptions</c:v>
                  </c:pt>
                  <c:pt idx="8">
                    <c:v>Login &amp; home address</c:v>
                  </c:pt>
                  <c:pt idx="9">
                    <c:v>App stability &amp; speed</c:v>
                  </c:pt>
                </c:lvl>
              </c:multiLvlStrCache>
            </c:multiLvlStrRef>
          </c:cat>
          <c:val>
            <c:numRef>
              <c:f>Sheet1!$C$2:$C$11</c:f>
              <c:numCache>
                <c:formatCode>General</c:formatCode>
                <c:ptCount val="10"/>
                <c:pt idx="0">
                  <c:v>6</c:v>
                </c:pt>
                <c:pt idx="1">
                  <c:v>4</c:v>
                </c:pt>
                <c:pt idx="2">
                  <c:v>7</c:v>
                </c:pt>
                <c:pt idx="3">
                  <c:v>56</c:v>
                </c:pt>
                <c:pt idx="4">
                  <c:v>10</c:v>
                </c:pt>
                <c:pt idx="5">
                  <c:v>11</c:v>
                </c:pt>
                <c:pt idx="6">
                  <c:v>19</c:v>
                </c:pt>
                <c:pt idx="7">
                  <c:v>6</c:v>
                </c:pt>
                <c:pt idx="8">
                  <c:v>5</c:v>
                </c:pt>
                <c:pt idx="9">
                  <c:v>2</c:v>
                </c:pt>
              </c:numCache>
            </c:numRef>
          </c:val>
        </c:ser>
        <c:ser>
          <c:idx val="2"/>
          <c:order val="2"/>
          <c:tx>
            <c:strRef>
              <c:f>Sheet1!$D$1</c:f>
              <c:strCache>
                <c:ptCount val="1"/>
                <c:pt idx="0">
                  <c:v>Transport service</c:v>
                </c:pt>
              </c:strCache>
            </c:strRef>
          </c:tx>
          <c:spPr>
            <a:solidFill>
              <a:srgbClr val="E76F51"/>
            </a:solidFill>
            <a:effectLst/>
          </c:spPr>
          <c:invertIfNegative val="0"/>
          <c:dLbls>
            <c:numFmt formatCode="#,##0" sourceLinked="0"/>
            <c:txPr>
              <a:bodyPr/>
              <a:lstStyle/>
              <a:p>
                <a:pPr>
                  <a:defRPr b="0" i="0" strike="noStrike" sz="1000" u="none">
                    <a:solidFill>
                      <a:srgbClr val="14213D"/>
                    </a:solidFill>
                    <a:latin typeface="+mn-lt"/>
                  </a:defRPr>
                </a:pPr>
              </a:p>
            </c:txPr>
            <c:showLegendKey val="0"/>
            <c:showVal val="0"/>
            <c:showCatName val="0"/>
            <c:showSerName val="0"/>
            <c:showPercent val="0"/>
            <c:showBubbleSize val="0"/>
            <c:showLeaderLines val="0"/>
          </c:dLbls>
          <c:cat>
            <c:multiLvlStrRef>
              <c:f>Sheet1!$A$2:$A$11</c:f>
              <c:multiLvlStrCache>
                <c:ptCount val="10"/>
                <c:lvl>
                  <c:pt idx="0">
                    <c:v>Ride &amp; drop</c:v>
                  </c:pt>
                  <c:pt idx="1">
                    <c:v>Notifications</c:v>
                  </c:pt>
                  <c:pt idx="2">
                    <c:v>Live tracking &amp; ETA</c:v>
                  </c:pt>
                  <c:pt idx="3">
                    <c:v>Allocation &amp; routing</c:v>
                  </c:pt>
                  <c:pt idx="4">
                    <c:v>Pickup &amp; boarding</c:v>
                  </c:pt>
                  <c:pt idx="5">
                    <c:v>Self-booking</c:v>
                  </c:pt>
                  <c:pt idx="6">
                    <c:v>Issue reporting &amp; support</c:v>
                  </c:pt>
                  <c:pt idx="7">
                    <c:v>UI &amp; interruptions</c:v>
                  </c:pt>
                  <c:pt idx="8">
                    <c:v>Login &amp; home address</c:v>
                  </c:pt>
                  <c:pt idx="9">
                    <c:v>App stability &amp; speed</c:v>
                  </c:pt>
                </c:lvl>
              </c:multiLvlStrCache>
            </c:multiLvlStrRef>
          </c:cat>
          <c:val>
            <c:numRef>
              <c:f>Sheet1!$D$2:$D$11</c:f>
              <c:numCache>
                <c:formatCode>General</c:formatCode>
                <c:ptCount val="10"/>
                <c:pt idx="0">
                  <c:v>14</c:v>
                </c:pt>
                <c:pt idx="1">
                  <c:v>1</c:v>
                </c:pt>
                <c:pt idx="2">
                  <c:v>0</c:v>
                </c:pt>
                <c:pt idx="3">
                  <c:v>14</c:v>
                </c:pt>
                <c:pt idx="4">
                  <c:v>22</c:v>
                </c:pt>
                <c:pt idx="5">
                  <c:v>0</c:v>
                </c:pt>
                <c:pt idx="6">
                  <c:v>35</c:v>
                </c:pt>
                <c:pt idx="7">
                  <c:v>0</c:v>
                </c:pt>
                <c:pt idx="8">
                  <c:v>0</c:v>
                </c:pt>
                <c:pt idx="9">
                  <c:v>0</c:v>
                </c:pt>
              </c:numCache>
            </c:numRef>
          </c:val>
        </c:ser>
        <c:ser>
          <c:idx val="3"/>
          <c:order val="3"/>
          <c:tx>
            <c:strRef>
              <c:f>Sheet1!$E$1</c:f>
              <c:strCache>
                <c:ptCount val="1"/>
                <c:pt idx="0">
                  <c:v>Employer rules</c:v>
                </c:pt>
              </c:strCache>
            </c:strRef>
          </c:tx>
          <c:spPr>
            <a:solidFill>
              <a:srgbClr val="2A9D8F"/>
            </a:solidFill>
            <a:effectLst/>
          </c:spPr>
          <c:invertIfNegative val="0"/>
          <c:dLbls>
            <c:numFmt formatCode="#,##0" sourceLinked="0"/>
            <c:txPr>
              <a:bodyPr/>
              <a:lstStyle/>
              <a:p>
                <a:pPr>
                  <a:defRPr b="0" i="0" strike="noStrike" sz="1000" u="none">
                    <a:solidFill>
                      <a:srgbClr val="14213D"/>
                    </a:solidFill>
                    <a:latin typeface="+mn-lt"/>
                  </a:defRPr>
                </a:pPr>
              </a:p>
            </c:txPr>
            <c:showLegendKey val="0"/>
            <c:showVal val="0"/>
            <c:showCatName val="0"/>
            <c:showSerName val="0"/>
            <c:showPercent val="0"/>
            <c:showBubbleSize val="0"/>
            <c:showLeaderLines val="0"/>
          </c:dLbls>
          <c:cat>
            <c:multiLvlStrRef>
              <c:f>Sheet1!$A$2:$A$11</c:f>
              <c:multiLvlStrCache>
                <c:ptCount val="10"/>
                <c:lvl>
                  <c:pt idx="0">
                    <c:v>Ride &amp; drop</c:v>
                  </c:pt>
                  <c:pt idx="1">
                    <c:v>Notifications</c:v>
                  </c:pt>
                  <c:pt idx="2">
                    <c:v>Live tracking &amp; ETA</c:v>
                  </c:pt>
                  <c:pt idx="3">
                    <c:v>Allocation &amp; routing</c:v>
                  </c:pt>
                  <c:pt idx="4">
                    <c:v>Pickup &amp; boarding</c:v>
                  </c:pt>
                  <c:pt idx="5">
                    <c:v>Self-booking</c:v>
                  </c:pt>
                  <c:pt idx="6">
                    <c:v>Issue reporting &amp; support</c:v>
                  </c:pt>
                  <c:pt idx="7">
                    <c:v>UI &amp; interruptions</c:v>
                  </c:pt>
                  <c:pt idx="8">
                    <c:v>Login &amp; home address</c:v>
                  </c:pt>
                  <c:pt idx="9">
                    <c:v>App stability &amp; speed</c:v>
                  </c:pt>
                </c:lvl>
              </c:multiLvlStrCache>
            </c:multiLvlStrRef>
          </c:cat>
          <c:val>
            <c:numRef>
              <c:f>Sheet1!$E$2:$E$11</c:f>
              <c:numCache>
                <c:formatCode>General</c:formatCode>
                <c:ptCount val="10"/>
                <c:pt idx="0">
                  <c:v>0</c:v>
                </c:pt>
                <c:pt idx="1">
                  <c:v>0</c:v>
                </c:pt>
                <c:pt idx="2">
                  <c:v>0</c:v>
                </c:pt>
                <c:pt idx="3">
                  <c:v>0</c:v>
                </c:pt>
                <c:pt idx="4">
                  <c:v>2</c:v>
                </c:pt>
                <c:pt idx="5">
                  <c:v>5</c:v>
                </c:pt>
                <c:pt idx="6">
                  <c:v>0</c:v>
                </c:pt>
                <c:pt idx="7">
                  <c:v>0</c:v>
                </c:pt>
                <c:pt idx="8">
                  <c:v>0</c:v>
                </c:pt>
                <c:pt idx="9">
                  <c:v>0</c:v>
                </c:pt>
              </c:numCache>
            </c:numRef>
          </c:val>
        </c:ser>
        <c:dLbls>
          <c:numFmt formatCode="#,##0" sourceLinked="0"/>
          <c:txPr>
            <a:bodyPr/>
            <a:lstStyle/>
            <a:p>
              <a:pPr>
                <a:defRPr b="0" i="0" strike="noStrike" sz="1000" u="none">
                  <a:solidFill>
                    <a:srgbClr val="14213D"/>
                  </a:solidFill>
                  <a:latin typeface="+mn-lt"/>
                </a:defRPr>
              </a:pPr>
            </a:p>
          </c:txPr>
          <c:showLegendKey val="0"/>
          <c:showVal val="0"/>
          <c:showCatName val="0"/>
          <c:showSerName val="0"/>
          <c:showPercent val="0"/>
          <c:showBubbleSize val="0"/>
          <c:showLeaderLines val="0"/>
        </c:dLbls>
        <c:gapWidth val="55"/>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3D4A5C"/>
                </a:solidFill>
                <a:latin typeface="+mn-lt"/>
              </a:defRPr>
            </a:pPr>
            <a:endParaRPr lang="en-US"/>
          </a:p>
        </c:txPr>
        <c:crossAx val="2094734552"/>
        <c:crosses val="autoZero"/>
        <c:auto val="1"/>
        <c:lblAlgn val="ctr"/>
        <c:noMultiLvlLbl val="1"/>
      </c:catAx>
      <c:valAx>
        <c:axId val="2094734552"/>
        <c:scaling>
          <c:orientation val="minMax"/>
        </c:scaling>
        <c:delete val="0"/>
        <c:axPos val="b"/>
        <c:majorGridlines>
          <c:spPr>
            <a:ln w="9525" cap="flat">
              <a:solidFill>
                <a:srgbClr val="E5E7E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3D4A5C"/>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3D4A5C"/>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3D4A5C"/>
                </a:solidFill>
                <a:latin typeface="+mn-lt"/>
              </a:defRPr>
            </a:pPr>
            <a:r>
              <a:rPr sz="1200" b="0" i="0" u="none" strike="noStrike">
                <a:solidFill>
                  <a:srgbClr val="3D4A5C"/>
                </a:solidFill>
                <a:latin typeface="+mn-lt"/>
              </a:rPr>
              <a:t>Share of ≤3★ reviews about each theme, by quarter</a:t>
            </a:r>
          </a:p>
        </c:rich>
      </c:tx>
      <c:layout/>
      <c:overlay val="0"/>
    </c:title>
    <c:autoTitleDeleted val="0"/>
    <c:plotArea>
      <c:layout/>
      <c:lineChart>
        <c:varyColors val="0"/>
        <c:ser>
          <c:idx val="0"/>
          <c:order val="0"/>
          <c:tx>
            <c:strRef>
              <c:f>Sheet1!$B$1</c:f>
              <c:strCache>
                <c:ptCount val="1"/>
                <c:pt idx="0">
                  <c:v>App stability &amp; speed</c:v>
                </c:pt>
              </c:strCache>
            </c:strRef>
          </c:tx>
          <c:spPr>
            <a:solidFill>
              <a:srgbClr val="C0392B"/>
            </a:solidFill>
            <a:ln w="25400" cap="flat">
              <a:solidFill>
                <a:srgbClr val="C0392B"/>
              </a:solidFill>
              <a:prstDash val="solid"/>
              <a:round/>
            </a:ln>
            <a:effectLst/>
          </c:spPr>
          <c:invertIfNegative val="0"/>
          <c:dLbls>
            <c:numFmt formatCode="0%" sourceLinked="0"/>
            <c:txPr>
              <a:bodyPr/>
              <a:lstStyle/>
              <a:p>
                <a:pPr>
                  <a:defRPr b="0" i="0" strike="noStrike" sz="1000" u="none">
                    <a:solidFill>
                      <a:srgbClr val="14213D"/>
                    </a:solidFill>
                    <a:latin typeface="+mn-lt"/>
                  </a:defRPr>
                </a:pPr>
              </a:p>
            </c:txPr>
            <c:dLblPos val="t"/>
            <c:showLegendKey val="0"/>
            <c:showVal val="1"/>
            <c:showCatName val="0"/>
            <c:showSerName val="0"/>
            <c:showPercent val="0"/>
            <c:showBubbleSize val="0"/>
            <c:showLeaderLines val="0"/>
          </c:dLbls>
          <c:marker>
            <c:symbol val="circle"/>
            <c:size val="7"/>
            <c:spPr>
              <a:solidFill>
                <a:srgbClr val="C0392B"/>
              </a:solidFill>
              <a:ln w="9525" cap="flat">
                <a:solidFill>
                  <a:srgbClr val="C0392B"/>
                </a:solidFill>
                <a:prstDash val="solid"/>
                <a:round/>
              </a:ln>
              <a:effectLst/>
            </c:spPr>
          </c:marker>
          <c:cat>
            <c:multiLvlStrRef>
              <c:f>Sheet1!$A$2:$A$5</c:f>
              <c:multiLvlStrCache>
                <c:ptCount val="4"/>
                <c:lvl>
                  <c:pt idx="0">
                    <c:v>2025 Q4</c:v>
                  </c:pt>
                  <c:pt idx="1">
                    <c:v>2026 Q1</c:v>
                  </c:pt>
                  <c:pt idx="2">
                    <c:v>2026 Q2</c:v>
                  </c:pt>
                  <c:pt idx="3">
                    <c:v>2026 Q3</c:v>
                  </c:pt>
                </c:lvl>
              </c:multiLvlStrCache>
            </c:multiLvlStrRef>
          </c:cat>
          <c:val>
            <c:numRef>
              <c:f>Sheet1!$B$2:$B$5</c:f>
              <c:numCache>
                <c:formatCode>General</c:formatCode>
                <c:ptCount val="4"/>
                <c:pt idx="0">
                  <c:v>0.157</c:v>
                </c:pt>
                <c:pt idx="1">
                  <c:v>0.115</c:v>
                </c:pt>
                <c:pt idx="2">
                  <c:v>0.156</c:v>
                </c:pt>
                <c:pt idx="3">
                  <c:v>0.252</c:v>
                </c:pt>
              </c:numCache>
            </c:numRef>
          </c:val>
          <c:smooth val="0"/>
        </c:ser>
        <c:ser>
          <c:idx val="1"/>
          <c:order val="1"/>
          <c:tx>
            <c:strRef>
              <c:f>Sheet1!$C$1</c:f>
              <c:strCache>
                <c:ptCount val="1"/>
                <c:pt idx="0">
                  <c:v>Login &amp; home address</c:v>
                </c:pt>
              </c:strCache>
            </c:strRef>
          </c:tx>
          <c:spPr>
            <a:solidFill>
              <a:srgbClr val="2A6F97"/>
            </a:solidFill>
            <a:ln w="25400" cap="flat">
              <a:solidFill>
                <a:srgbClr val="2A6F97"/>
              </a:solidFill>
              <a:prstDash val="solid"/>
              <a:round/>
            </a:ln>
            <a:effectLst/>
          </c:spPr>
          <c:invertIfNegative val="0"/>
          <c:dLbls>
            <c:numFmt formatCode="0%" sourceLinked="0"/>
            <c:txPr>
              <a:bodyPr/>
              <a:lstStyle/>
              <a:p>
                <a:pPr>
                  <a:defRPr b="0" i="0" strike="noStrike" sz="1000" u="none">
                    <a:solidFill>
                      <a:srgbClr val="14213D"/>
                    </a:solidFill>
                    <a:latin typeface="+mn-lt"/>
                  </a:defRPr>
                </a:pPr>
              </a:p>
            </c:txPr>
            <c:dLblPos val="t"/>
            <c:showLegendKey val="0"/>
            <c:showVal val="1"/>
            <c:showCatName val="0"/>
            <c:showSerName val="0"/>
            <c:showPercent val="0"/>
            <c:showBubbleSize val="0"/>
            <c:showLeaderLines val="0"/>
          </c:dLbls>
          <c:marker>
            <c:symbol val="circle"/>
            <c:size val="7"/>
            <c:spPr>
              <a:solidFill>
                <a:srgbClr val="2A6F97"/>
              </a:solidFill>
              <a:ln w="9525" cap="flat">
                <a:solidFill>
                  <a:srgbClr val="2A6F97"/>
                </a:solidFill>
                <a:prstDash val="solid"/>
                <a:round/>
              </a:ln>
              <a:effectLst/>
            </c:spPr>
          </c:marker>
          <c:cat>
            <c:multiLvlStrRef>
              <c:f>Sheet1!$A$2:$A$5</c:f>
              <c:multiLvlStrCache>
                <c:ptCount val="4"/>
                <c:lvl>
                  <c:pt idx="0">
                    <c:v>2025 Q4</c:v>
                  </c:pt>
                  <c:pt idx="1">
                    <c:v>2026 Q1</c:v>
                  </c:pt>
                  <c:pt idx="2">
                    <c:v>2026 Q2</c:v>
                  </c:pt>
                  <c:pt idx="3">
                    <c:v>2026 Q3</c:v>
                  </c:pt>
                </c:lvl>
              </c:multiLvlStrCache>
            </c:multiLvlStrRef>
          </c:cat>
          <c:val>
            <c:numRef>
              <c:f>Sheet1!$C$2:$C$5</c:f>
              <c:numCache>
                <c:formatCode>General</c:formatCode>
                <c:ptCount val="4"/>
                <c:pt idx="0">
                  <c:v>0.216</c:v>
                </c:pt>
                <c:pt idx="1">
                  <c:v>0.169</c:v>
                </c:pt>
                <c:pt idx="2">
                  <c:v>0.156</c:v>
                </c:pt>
                <c:pt idx="3">
                  <c:v>0.087</c:v>
                </c:pt>
              </c:numCache>
            </c:numRef>
          </c:val>
          <c:smooth val="0"/>
        </c:ser>
        <c:dLbls>
          <c:numFmt formatCode="0%" sourceLinked="0"/>
          <c:txPr>
            <a:bodyPr/>
            <a:lstStyle/>
            <a:p>
              <a:pPr>
                <a:defRPr b="0" i="0" strike="noStrike" sz="1000" u="none">
                  <a:solidFill>
                    <a:srgbClr val="14213D"/>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D4A5C"/>
                </a:solidFill>
                <a:latin typeface="+mn-lt"/>
              </a:defRPr>
            </a:pPr>
            <a:endParaRPr lang="en-US"/>
          </a:p>
        </c:txPr>
        <c:crossAx val="2094734552"/>
        <c:crosses val="autoZero"/>
        <c:auto val="1"/>
        <c:lblAlgn val="ctr"/>
        <c:noMultiLvlLbl val="1"/>
      </c:catAx>
      <c:valAx>
        <c:axId val="2094734552"/>
        <c:scaling>
          <c:orientation val="minMax"/>
          <c:max val="0.3"/>
          <c:min val="0"/>
        </c:scaling>
        <c:delete val="0"/>
        <c:axPos val="l"/>
        <c:majorGridlines>
          <c:spPr>
            <a:ln w="9525" cap="flat">
              <a:solidFill>
                <a:srgbClr val="E5E7EB"/>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3D4A5C"/>
                </a:solidFill>
                <a:latin typeface="+mn-lt"/>
              </a:defRPr>
            </a:pPr>
            <a:endParaRPr lang="en-US"/>
          </a:p>
        </c:txPr>
        <c:crossAx val="2094734554"/>
        <c:crosses val="autoZero"/>
        <c:crossBetween val="between"/>
        <c:majorUnit val="0.1"/>
      </c:valAx>
      <c:spPr>
        <a:noFill/>
        <a:ln>
          <a:noFill/>
        </a:ln>
        <a:effectLst/>
      </c:spPr>
    </c:plotArea>
    <c:legend>
      <c:legendPos val="b"/>
      <c:overlay val="0"/>
      <c:txPr>
        <a:bodyPr/>
        <a:lstStyle/>
        <a:p>
          <a:pPr>
            <a:defRPr sz="1100">
              <a:solidFill>
                <a:srgbClr val="3D4A5C"/>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MoveInSync asked why its Play Store ratings are lower than they should be, and what to fix first. I pulled every public review of the employee app, 24,315 of them, labelled 1,400 with AI using a versioned prompt, had a person audit the labels at 94% accuracy, and built a monitor that keeps answering the question every week. Here's what I found and what I'd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points. One: against the market, MoveInSync isn't behind. It's second of eight, and 0.011 stars from showing 4.7. Two: the problem is what people read. Written reviews average 3.84, and nine of the first ten a visitor sees are one or two stars. Three: it's the app, not the cabs. Seventy-three percent of specific complaints are about the app itself. Four: it's getting worse right now, with a stability regression in the current releases.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benchmark against seven other employee-commute apps. MoveInSync is second, 0.08 behind Safetrax Commuter, but on nearly five times the ratings: 115 thousand against 24 thousand. Safetrax had just 114 written reviews last year; MoveInSync had 2,848. MoveInSync has more ratings than the other seven combined. The Play Store rounds to one decimal, so 4.639 shows as 4.6. Crossing 4.65 flips the display to 4.7. One trap worth knowing: ratings are per country. The same app shows 4.3 in the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store number is carried by silent ratings: about four in five new ratings have no text. But the written reviews, the ones people actually read, average 3.84, and a quarter are one star. Nine of the first ten reviews a visitor sees are one or two stars, and nine of them have no reply. Replies stopped in mid-2024. Competitors answer almost every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 labelled every one- and two-star review from the last year by stage of the rider's journey and by who would have to fix it. Seventy-three percent of specific complaints are about the app itself: crashes, logins and OTPs, booking, and interruptions. Late, unassigned or missed cabs, the obvious suspect, come up in under five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it's getting worse. Stability complaints jumped from about sixteen to twenty-five percent of negative reviews in the third quarter, and that's statistically significant. It's concentrated in versions 12.16 to 12.19, including a false 'not installed from Play Store' error that locks riders out until they reinstall. The same kind of bug hit in 2023 as a false rooted-device block. The good news: login complaints fell from 22 to 9 percent after a fix, so fixes do show up in reviews.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to check on day one. First, the rating prompt. Riders complain about being forced to rate every trip before they can see their current ride, and three reviews say the rating step only accepts four or five stars. If any step filters who gets sent to the Play Store, that's review gating, which Google prohibits. It takes an hour to check. Second, safety. Twenty-three reviews in the past year describe safety risks, and they sit unanswered on a public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do, in order. This week, stop the damage, with no new features needed: fix the false lock-out, gate releases on crash and review signals, restart replying, and I've already drafted replies to the twenty reviews visitors see first. Make trip rating skippable, and route safety reports. In thirty days, fix the top themes: logins, OTP, booking clarity and interruptions. In ninety days, tracking, complaint handling, and only then ask happy riders for ratings. Every item is a ticket with acceptance criteria in backlog.csv.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'how are our ratings?' is now answered automatically. Every day a scheduled job records the store rating, labels new reviews and refreshes the dashboard. Every week the answer is posted as a GitHub Issue, with an alert if a release regresses. Safety reports and unclear reviews go to a person. It runs free on keyword rules, or for about two cents a week with Claude Sonnet. The AI labels were 94 percent right in a human audit.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4213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960120"/>
            <a:ext cx="8046720" cy="1554480"/>
          </a:xfrm>
          <a:prstGeom prst="rect">
            <a:avLst/>
          </a:prstGeom>
          <a:noFill/>
          <a:ln/>
        </p:spPr>
        <p:txBody>
          <a:bodyPr wrap="square" rtlCol="0"/>
          <a:lstStyle>
            <a:lvl1pPr indent="0" marL="0">
              <a:buNone/>
              <a:defRPr lang="en-US" sz="3600" b="1" dirty="0">
                <a:solidFill>
                  <a:schemeClr val="bg1"/>
                </a:solidFill>
              </a:defRPr>
            </a:lvl1pPr>
          </a:lstStyle>
          <a:p>
            <a:pPr indent="0" marL="0">
              <a:buNone/>
            </a:pPr>
            <a:endParaRPr lang="en-US" sz="3600" dirty="0"/>
          </a:p>
        </p:txBody>
      </p:sp>
      <p:sp>
        <p:nvSpPr>
          <p:cNvPr id="3" name="Text 0"/>
          <p:cNvSpPr/>
          <p:nvPr>
            <p:ph idx="101" type="body" hasCustomPrompt="1"/>
          </p:nvPr>
        </p:nvSpPr>
        <p:spPr>
          <a:xfrm>
            <a:off x="548640" y="2697480"/>
            <a:ext cx="8046720" cy="457200"/>
          </a:xfrm>
          <a:prstGeom prst="rect">
            <a:avLst/>
          </a:prstGeom>
          <a:noFill/>
          <a:ln/>
        </p:spPr>
        <p:txBody>
          <a:bodyPr wrap="square" rtlCol="0"/>
          <a:lstStyle>
            <a:lvl1pPr indent="0" marL="0">
              <a:buNone/>
              <a:defRPr lang="en-US" sz="1600" dirty="0">
                <a:solidFill>
                  <a:schemeClr val="bg2"/>
                </a:solidFill>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40080"/>
          </a:xfrm>
          <a:prstGeom prst="rect">
            <a:avLst/>
          </a:prstGeom>
          <a:noFill/>
          <a:ln/>
        </p:spPr>
        <p:txBody>
          <a:bodyPr wrap="square" rtlCol="0"/>
          <a:lstStyle>
            <a:lvl1pPr indent="0" marL="0">
              <a:buNone/>
              <a:defRPr lang="en-US" sz="3000" b="1" dirty="0">
                <a:solidFill>
                  <a:schemeClr val="tx1"/>
                </a:solidFill>
              </a:defRPr>
            </a:lvl1pPr>
          </a:lstStyle>
          <a:p>
            <a:pPr indent="0" marL="0">
              <a:buNone/>
            </a:pPr>
            <a:endParaRPr lang="en-US" sz="3000" dirty="0"/>
          </a:p>
        </p:txBody>
      </p:sp>
      <p:sp>
        <p:nvSpPr>
          <p:cNvPr id="3" name="Text 0"/>
          <p:cNvSpPr/>
          <p:nvPr/>
        </p:nvSpPr>
        <p:spPr>
          <a:xfrm>
            <a:off x="457200" y="4773168"/>
            <a:ext cx="5486400" cy="228600"/>
          </a:xfrm>
          <a:prstGeom prst="rect">
            <a:avLst/>
          </a:prstGeom>
          <a:noFill/>
          <a:ln/>
        </p:spPr>
        <p:txBody>
          <a:bodyPr wrap="square" lIns="0" tIns="0" rIns="0" bIns="0" rtlCol="0" anchor="ctr"/>
          <a:lstStyle/>
          <a:p>
            <a:pPr indent="0" marL="0">
              <a:buNone/>
            </a:pPr>
            <a:r>
              <a:rPr lang="en-US" sz="1000" dirty="0">
                <a:solidFill>
                  <a:schemeClr val="accent5"/>
                </a:solidFill>
              </a:rPr>
              <a:t>MoveInSync · Play Store ratings · October 2026</a:t>
            </a:r>
            <a:endParaRPr lang="en-US" sz="10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_DARK">
    <p:bg>
      <p:bgPr>
        <a:solidFill>
          <a:srgbClr val="14213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40080"/>
          </a:xfrm>
          <a:prstGeom prst="rect">
            <a:avLst/>
          </a:prstGeom>
          <a:noFill/>
          <a:ln/>
        </p:spPr>
        <p:txBody>
          <a:bodyPr wrap="square" rtlCol="0"/>
          <a:lstStyle>
            <a:lvl1pPr indent="0" marL="0">
              <a:buNone/>
              <a:defRPr lang="en-US" sz="3000" b="1" dirty="0">
                <a:solidFill>
                  <a:schemeClr val="bg1"/>
                </a:solidFill>
              </a:defRPr>
            </a:lvl1pPr>
          </a:lstStyle>
          <a:p>
            <a:pPr indent="0" marL="0">
              <a:buNone/>
            </a:pPr>
            <a:endParaRPr lang="en-US" sz="30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abhijit-kumar-github.github.io/FDE-Case-Study--MoveInSync/" TargetMode="External"/><Relationship Id="rId2" Type="http://schemas.openxmlformats.org/officeDocument/2006/relationships/hyperlink" Target="https://github.com/Abhijit-Kumar-GitHub/FDE-Case-Study--MoveInSync" TargetMode="External"/><Relationship Id="rId3" Type="http://schemas.openxmlformats.org/officeDocument/2006/relationships/slideLayout" Target="../slideLayouts/slideLayout4.xml"/><Relationship Id="rId4"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960120"/>
            <a:ext cx="8046720" cy="1554480"/>
          </a:xfrm>
          <a:prstGeom prst="rect">
            <a:avLst/>
          </a:prstGeom>
          <a:noFill/>
          <a:ln/>
        </p:spPr>
        <p:txBody>
          <a:bodyPr wrap="square" lIns="0" tIns="0" rIns="0" bIns="0" rtlCol="0" anchor="b"/>
          <a:lstStyle/>
          <a:p>
            <a:pPr indent="0" marL="0">
              <a:buNone/>
            </a:pPr>
            <a:r>
              <a:rPr lang="en-US" sz="3600" b="1" dirty="0">
                <a:solidFill>
                  <a:schemeClr val="bg1"/>
                </a:solidFill>
              </a:rPr>
              <a:t>Play Store ratings: what's actually wrong, and what to fix first</a:t>
            </a:r>
            <a:endParaRPr lang="en-US" sz="3600" dirty="0"/>
          </a:p>
        </p:txBody>
      </p:sp>
      <p:sp>
        <p:nvSpPr>
          <p:cNvPr id="3" name="Text 0"/>
          <p:cNvSpPr/>
          <p:nvPr>
            <p:ph idx="101" type="body" hasCustomPrompt="1"/>
          </p:nvPr>
        </p:nvSpPr>
        <p:spPr>
          <a:xfrm>
            <a:off x="548640" y="2697480"/>
            <a:ext cx="8046720" cy="457200"/>
          </a:xfrm>
          <a:prstGeom prst="rect">
            <a:avLst/>
          </a:prstGeom>
          <a:noFill/>
          <a:ln/>
        </p:spPr>
        <p:txBody>
          <a:bodyPr wrap="square" lIns="0" tIns="0" rIns="0" bIns="0" rtlCol="0" anchor="t"/>
          <a:lstStyle/>
          <a:p>
            <a:pPr indent="0" marL="0">
              <a:buNone/>
            </a:pPr>
            <a:r>
              <a:rPr lang="en-US" sz="1600" dirty="0">
                <a:solidFill>
                  <a:schemeClr val="bg2"/>
                </a:solidFill>
              </a:rPr>
              <a:t>Recommendation for MoveInSync  ·  Abhijit Kumar  ·  13 October 2026</a:t>
            </a:r>
            <a:endParaRPr lang="en-US" sz="1600" dirty="0"/>
          </a:p>
        </p:txBody>
      </p:sp>
      <p:sp>
        <p:nvSpPr>
          <p:cNvPr id="4" name="title stat 0"/>
          <p:cNvSpPr txBox="1"/>
          <p:nvPr/>
        </p:nvSpPr>
        <p:spPr>
          <a:xfrm>
            <a:off x="548640" y="3566160"/>
            <a:ext cx="2560320" cy="54864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4.64★</a:t>
            </a:r>
            <a:endParaRPr lang="en-US" sz="3000" dirty="0"/>
          </a:p>
        </p:txBody>
      </p:sp>
      <p:sp>
        <p:nvSpPr>
          <p:cNvPr id="5" name="title stat label 0"/>
          <p:cNvSpPr txBox="1"/>
          <p:nvPr/>
        </p:nvSpPr>
        <p:spPr>
          <a:xfrm>
            <a:off x="548640" y="4114800"/>
            <a:ext cx="2560320" cy="457200"/>
          </a:xfrm>
          <a:prstGeom prst="rect">
            <a:avLst/>
          </a:prstGeom>
          <a:noFill/>
          <a:ln/>
        </p:spPr>
        <p:txBody>
          <a:bodyPr wrap="square" lIns="0" tIns="0" rIns="0" bIns="0" rtlCol="0" anchor="t"/>
          <a:lstStyle/>
          <a:p>
            <a:pPr indent="0" marL="0">
              <a:buNone/>
            </a:pPr>
            <a:r>
              <a:rPr lang="en-US" sz="1400" dirty="0">
                <a:solidFill>
                  <a:schemeClr val="bg2"/>
                </a:solidFill>
              </a:rPr>
              <a:t>store rating, India</a:t>
            </a:r>
            <a:endParaRPr lang="en-US" sz="1400" dirty="0"/>
          </a:p>
        </p:txBody>
      </p:sp>
      <p:sp>
        <p:nvSpPr>
          <p:cNvPr id="6" name="title stat 1"/>
          <p:cNvSpPr txBox="1"/>
          <p:nvPr/>
        </p:nvSpPr>
        <p:spPr>
          <a:xfrm>
            <a:off x="3291840" y="3566160"/>
            <a:ext cx="2560320" cy="54864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24,315</a:t>
            </a:r>
            <a:endParaRPr lang="en-US" sz="3000" dirty="0"/>
          </a:p>
        </p:txBody>
      </p:sp>
      <p:sp>
        <p:nvSpPr>
          <p:cNvPr id="7" name="title stat label 1"/>
          <p:cNvSpPr txBox="1"/>
          <p:nvPr/>
        </p:nvSpPr>
        <p:spPr>
          <a:xfrm>
            <a:off x="3291840" y="4114800"/>
            <a:ext cx="2560320" cy="457200"/>
          </a:xfrm>
          <a:prstGeom prst="rect">
            <a:avLst/>
          </a:prstGeom>
          <a:noFill/>
          <a:ln/>
        </p:spPr>
        <p:txBody>
          <a:bodyPr wrap="square" lIns="0" tIns="0" rIns="0" bIns="0" rtlCol="0" anchor="t"/>
          <a:lstStyle/>
          <a:p>
            <a:pPr indent="0" marL="0">
              <a:buNone/>
            </a:pPr>
            <a:r>
              <a:rPr lang="en-US" sz="1400" dirty="0">
                <a:solidFill>
                  <a:schemeClr val="bg2"/>
                </a:solidFill>
              </a:rPr>
              <a:t>written reviews analysed</a:t>
            </a:r>
            <a:endParaRPr lang="en-US" sz="1400" dirty="0"/>
          </a:p>
        </p:txBody>
      </p:sp>
      <p:sp>
        <p:nvSpPr>
          <p:cNvPr id="8" name="title stat 2"/>
          <p:cNvSpPr txBox="1"/>
          <p:nvPr/>
        </p:nvSpPr>
        <p:spPr>
          <a:xfrm>
            <a:off x="6035040" y="3566160"/>
            <a:ext cx="2560320" cy="54864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1,400</a:t>
            </a:r>
            <a:endParaRPr lang="en-US" sz="3000" dirty="0"/>
          </a:p>
        </p:txBody>
      </p:sp>
      <p:sp>
        <p:nvSpPr>
          <p:cNvPr id="9" name="title stat label 2"/>
          <p:cNvSpPr txBox="1"/>
          <p:nvPr/>
        </p:nvSpPr>
        <p:spPr>
          <a:xfrm>
            <a:off x="6035040" y="4114800"/>
            <a:ext cx="2560320" cy="457200"/>
          </a:xfrm>
          <a:prstGeom prst="rect">
            <a:avLst/>
          </a:prstGeom>
          <a:noFill/>
          <a:ln/>
        </p:spPr>
        <p:txBody>
          <a:bodyPr wrap="square" lIns="0" tIns="0" rIns="0" bIns="0" rtlCol="0" anchor="t"/>
          <a:lstStyle/>
          <a:p>
            <a:pPr indent="0" marL="0">
              <a:buNone/>
            </a:pPr>
            <a:r>
              <a:rPr lang="en-US" sz="1400" dirty="0">
                <a:solidFill>
                  <a:schemeClr val="bg2"/>
                </a:solidFill>
              </a:rPr>
              <a:t>AI-labelled, 94% right in a human audit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40080"/>
          </a:xfrm>
          <a:prstGeom prst="rect">
            <a:avLst/>
          </a:prstGeom>
          <a:noFill/>
          <a:ln/>
        </p:spPr>
        <p:txBody>
          <a:bodyPr wrap="square" lIns="0" tIns="0" rIns="0" bIns="0" rtlCol="0" anchor="ctr"/>
          <a:lstStyle/>
          <a:p>
            <a:pPr indent="0" marL="0">
              <a:buNone/>
            </a:pPr>
            <a:r>
              <a:rPr lang="en-US" sz="3000" b="1" dirty="0">
                <a:solidFill>
                  <a:schemeClr val="tx1"/>
                </a:solidFill>
              </a:rPr>
              <a:t>The answer in four points</a:t>
            </a:r>
            <a:endParaRPr lang="en-US" sz="3000" dirty="0"/>
          </a:p>
        </p:txBody>
      </p:sp>
      <p:sp>
        <p:nvSpPr>
          <p:cNvPr id="3" name="answer card 1"/>
          <p:cNvSpPr/>
          <p:nvPr/>
        </p:nvSpPr>
        <p:spPr>
          <a:xfrm>
            <a:off x="457200" y="1097280"/>
            <a:ext cx="4023360" cy="1417320"/>
          </a:xfrm>
          <a:prstGeom prst="roundRect">
            <a:avLst>
              <a:gd name="adj" fmla="val 5161"/>
            </a:avLst>
          </a:prstGeom>
          <a:solidFill>
            <a:schemeClr val="bg2"/>
          </a:solidFill>
          <a:ln/>
        </p:spPr>
      </p:sp>
      <p:sp>
        <p:nvSpPr>
          <p:cNvPr id="4" name="answer badge 1"/>
          <p:cNvSpPr/>
          <p:nvPr/>
        </p:nvSpPr>
        <p:spPr>
          <a:xfrm>
            <a:off x="685800" y="1325880"/>
            <a:ext cx="384048" cy="384048"/>
          </a:xfrm>
          <a:prstGeom prst="ellipse">
            <a:avLst/>
          </a:prstGeom>
          <a:solidFill>
            <a:schemeClr val="accent1"/>
          </a:solidFill>
          <a:ln/>
        </p:spPr>
      </p:sp>
      <p:sp>
        <p:nvSpPr>
          <p:cNvPr id="5" name="answer badge 1 label"/>
          <p:cNvSpPr txBox="1"/>
          <p:nvPr/>
        </p:nvSpPr>
        <p:spPr>
          <a:xfrm>
            <a:off x="685800" y="1325880"/>
            <a:ext cx="384048" cy="384048"/>
          </a:xfrm>
          <a:prstGeom prst="rect">
            <a:avLst/>
          </a:prstGeom>
          <a:no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6" name="answer head 1"/>
          <p:cNvSpPr txBox="1"/>
          <p:nvPr/>
        </p:nvSpPr>
        <p:spPr>
          <a:xfrm>
            <a:off x="1234440" y="1298448"/>
            <a:ext cx="3063240" cy="41148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Not behind the market</a:t>
            </a:r>
            <a:endParaRPr lang="en-US" sz="1800" dirty="0"/>
          </a:p>
        </p:txBody>
      </p:sp>
      <p:sp>
        <p:nvSpPr>
          <p:cNvPr id="7" name="answer body 1"/>
          <p:cNvSpPr txBox="1"/>
          <p:nvPr/>
        </p:nvSpPr>
        <p:spPr>
          <a:xfrm>
            <a:off x="1234440" y="1737360"/>
            <a:ext cx="3063240" cy="640080"/>
          </a:xfrm>
          <a:prstGeom prst="rect">
            <a:avLst/>
          </a:prstGeom>
          <a:noFill/>
          <a:ln/>
        </p:spPr>
        <p:txBody>
          <a:bodyPr wrap="square" lIns="0" tIns="0" rIns="0" bIns="0" rtlCol="0" anchor="t"/>
          <a:lstStyle/>
          <a:p>
            <a:pPr indent="0" marL="0">
              <a:buNone/>
            </a:pPr>
            <a:r>
              <a:rPr lang="en-US" sz="1400" dirty="0">
                <a:solidFill>
                  <a:schemeClr val="tx2"/>
                </a:solidFill>
              </a:rPr>
              <a:t>#2 of 8 commute apps benchmarked, and 0.011 stars from showing 4.7.</a:t>
            </a:r>
            <a:endParaRPr lang="en-US" sz="1400" dirty="0"/>
          </a:p>
        </p:txBody>
      </p:sp>
      <p:sp>
        <p:nvSpPr>
          <p:cNvPr id="8" name="answer card 2"/>
          <p:cNvSpPr/>
          <p:nvPr/>
        </p:nvSpPr>
        <p:spPr>
          <a:xfrm>
            <a:off x="4663440" y="1097280"/>
            <a:ext cx="4023360" cy="1417320"/>
          </a:xfrm>
          <a:prstGeom prst="roundRect">
            <a:avLst>
              <a:gd name="adj" fmla="val 5161"/>
            </a:avLst>
          </a:prstGeom>
          <a:solidFill>
            <a:schemeClr val="bg2"/>
          </a:solidFill>
          <a:ln/>
        </p:spPr>
      </p:sp>
      <p:sp>
        <p:nvSpPr>
          <p:cNvPr id="9" name="answer badge 2"/>
          <p:cNvSpPr/>
          <p:nvPr/>
        </p:nvSpPr>
        <p:spPr>
          <a:xfrm>
            <a:off x="4892040" y="1325880"/>
            <a:ext cx="384048" cy="384048"/>
          </a:xfrm>
          <a:prstGeom prst="ellipse">
            <a:avLst/>
          </a:prstGeom>
          <a:solidFill>
            <a:schemeClr val="accent1"/>
          </a:solidFill>
          <a:ln/>
        </p:spPr>
      </p:sp>
      <p:sp>
        <p:nvSpPr>
          <p:cNvPr id="10" name="answer badge 2 label"/>
          <p:cNvSpPr txBox="1"/>
          <p:nvPr/>
        </p:nvSpPr>
        <p:spPr>
          <a:xfrm>
            <a:off x="4892040" y="1325880"/>
            <a:ext cx="384048" cy="384048"/>
          </a:xfrm>
          <a:prstGeom prst="rect">
            <a:avLst/>
          </a:prstGeom>
          <a:no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11" name="answer head 2"/>
          <p:cNvSpPr txBox="1"/>
          <p:nvPr/>
        </p:nvSpPr>
        <p:spPr>
          <a:xfrm>
            <a:off x="5440680" y="1298448"/>
            <a:ext cx="3063240" cy="41148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What people read is harsh</a:t>
            </a:r>
            <a:endParaRPr lang="en-US" sz="1800" dirty="0"/>
          </a:p>
        </p:txBody>
      </p:sp>
      <p:sp>
        <p:nvSpPr>
          <p:cNvPr id="12" name="answer body 2"/>
          <p:cNvSpPr txBox="1"/>
          <p:nvPr/>
        </p:nvSpPr>
        <p:spPr>
          <a:xfrm>
            <a:off x="5440680" y="1737360"/>
            <a:ext cx="3063240" cy="640080"/>
          </a:xfrm>
          <a:prstGeom prst="rect">
            <a:avLst/>
          </a:prstGeom>
          <a:noFill/>
          <a:ln/>
        </p:spPr>
        <p:txBody>
          <a:bodyPr wrap="square" lIns="0" tIns="0" rIns="0" bIns="0" rtlCol="0" anchor="t"/>
          <a:lstStyle/>
          <a:p>
            <a:pPr indent="0" marL="0">
              <a:buNone/>
            </a:pPr>
            <a:r>
              <a:rPr lang="en-US" sz="1400" dirty="0">
                <a:solidFill>
                  <a:schemeClr val="tx2"/>
                </a:solidFill>
              </a:rPr>
              <a:t>Written reviews average 3.84★; 9 of the first 10 a visitor sees are 1–2★.</a:t>
            </a:r>
            <a:endParaRPr lang="en-US" sz="1400" dirty="0"/>
          </a:p>
        </p:txBody>
      </p:sp>
      <p:sp>
        <p:nvSpPr>
          <p:cNvPr id="13" name="answer card 3"/>
          <p:cNvSpPr/>
          <p:nvPr/>
        </p:nvSpPr>
        <p:spPr>
          <a:xfrm>
            <a:off x="457200" y="2697480"/>
            <a:ext cx="4023360" cy="1417320"/>
          </a:xfrm>
          <a:prstGeom prst="roundRect">
            <a:avLst>
              <a:gd name="adj" fmla="val 5161"/>
            </a:avLst>
          </a:prstGeom>
          <a:solidFill>
            <a:schemeClr val="bg2"/>
          </a:solidFill>
          <a:ln/>
        </p:spPr>
      </p:sp>
      <p:sp>
        <p:nvSpPr>
          <p:cNvPr id="14" name="answer badge 3"/>
          <p:cNvSpPr/>
          <p:nvPr/>
        </p:nvSpPr>
        <p:spPr>
          <a:xfrm>
            <a:off x="685800" y="2926080"/>
            <a:ext cx="384048" cy="384048"/>
          </a:xfrm>
          <a:prstGeom prst="ellipse">
            <a:avLst/>
          </a:prstGeom>
          <a:solidFill>
            <a:schemeClr val="accent1"/>
          </a:solidFill>
          <a:ln/>
        </p:spPr>
      </p:sp>
      <p:sp>
        <p:nvSpPr>
          <p:cNvPr id="15" name="answer badge 3 label"/>
          <p:cNvSpPr txBox="1"/>
          <p:nvPr/>
        </p:nvSpPr>
        <p:spPr>
          <a:xfrm>
            <a:off x="685800" y="2926080"/>
            <a:ext cx="384048" cy="384048"/>
          </a:xfrm>
          <a:prstGeom prst="rect">
            <a:avLst/>
          </a:prstGeom>
          <a:no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16" name="answer head 3"/>
          <p:cNvSpPr txBox="1"/>
          <p:nvPr/>
        </p:nvSpPr>
        <p:spPr>
          <a:xfrm>
            <a:off x="1234440" y="2898648"/>
            <a:ext cx="3063240" cy="41148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It's the app, not the cabs</a:t>
            </a:r>
            <a:endParaRPr lang="en-US" sz="1800" dirty="0"/>
          </a:p>
        </p:txBody>
      </p:sp>
      <p:sp>
        <p:nvSpPr>
          <p:cNvPr id="17" name="answer body 3"/>
          <p:cNvSpPr txBox="1"/>
          <p:nvPr/>
        </p:nvSpPr>
        <p:spPr>
          <a:xfrm>
            <a:off x="1234440" y="3337560"/>
            <a:ext cx="3063240" cy="640080"/>
          </a:xfrm>
          <a:prstGeom prst="rect">
            <a:avLst/>
          </a:prstGeom>
          <a:noFill/>
          <a:ln/>
        </p:spPr>
        <p:txBody>
          <a:bodyPr wrap="square" lIns="0" tIns="0" rIns="0" bIns="0" rtlCol="0" anchor="t"/>
          <a:lstStyle/>
          <a:p>
            <a:pPr indent="0" marL="0">
              <a:buNone/>
            </a:pPr>
            <a:r>
              <a:rPr lang="en-US" sz="1400" dirty="0">
                <a:solidFill>
                  <a:schemeClr val="tx2"/>
                </a:solidFill>
              </a:rPr>
              <a:t>73% of specific complaints are about the app; late or missed cabs, under 5%.</a:t>
            </a:r>
            <a:endParaRPr lang="en-US" sz="1400" dirty="0"/>
          </a:p>
        </p:txBody>
      </p:sp>
      <p:sp>
        <p:nvSpPr>
          <p:cNvPr id="18" name="answer card 4"/>
          <p:cNvSpPr/>
          <p:nvPr/>
        </p:nvSpPr>
        <p:spPr>
          <a:xfrm>
            <a:off x="4663440" y="2697480"/>
            <a:ext cx="4023360" cy="1417320"/>
          </a:xfrm>
          <a:prstGeom prst="roundRect">
            <a:avLst>
              <a:gd name="adj" fmla="val 5161"/>
            </a:avLst>
          </a:prstGeom>
          <a:solidFill>
            <a:schemeClr val="bg2"/>
          </a:solidFill>
          <a:ln/>
        </p:spPr>
      </p:sp>
      <p:sp>
        <p:nvSpPr>
          <p:cNvPr id="19" name="answer badge 4"/>
          <p:cNvSpPr/>
          <p:nvPr/>
        </p:nvSpPr>
        <p:spPr>
          <a:xfrm>
            <a:off x="4892040" y="2926080"/>
            <a:ext cx="384048" cy="384048"/>
          </a:xfrm>
          <a:prstGeom prst="ellipse">
            <a:avLst/>
          </a:prstGeom>
          <a:solidFill>
            <a:schemeClr val="accent1"/>
          </a:solidFill>
          <a:ln/>
        </p:spPr>
      </p:sp>
      <p:sp>
        <p:nvSpPr>
          <p:cNvPr id="20" name="answer badge 4 label"/>
          <p:cNvSpPr txBox="1"/>
          <p:nvPr/>
        </p:nvSpPr>
        <p:spPr>
          <a:xfrm>
            <a:off x="4892040" y="2926080"/>
            <a:ext cx="384048" cy="384048"/>
          </a:xfrm>
          <a:prstGeom prst="rect">
            <a:avLst/>
          </a:prstGeom>
          <a:no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21" name="answer head 4"/>
          <p:cNvSpPr txBox="1"/>
          <p:nvPr/>
        </p:nvSpPr>
        <p:spPr>
          <a:xfrm>
            <a:off x="5440680" y="2898648"/>
            <a:ext cx="3063240" cy="41148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It's getting worse now</a:t>
            </a:r>
            <a:endParaRPr lang="en-US" sz="1800" dirty="0"/>
          </a:p>
        </p:txBody>
      </p:sp>
      <p:sp>
        <p:nvSpPr>
          <p:cNvPr id="22" name="answer body 4"/>
          <p:cNvSpPr txBox="1"/>
          <p:nvPr/>
        </p:nvSpPr>
        <p:spPr>
          <a:xfrm>
            <a:off x="5440680" y="3337560"/>
            <a:ext cx="3063240" cy="640080"/>
          </a:xfrm>
          <a:prstGeom prst="rect">
            <a:avLst/>
          </a:prstGeom>
          <a:noFill/>
          <a:ln/>
        </p:spPr>
        <p:txBody>
          <a:bodyPr wrap="square" lIns="0" tIns="0" rIns="0" bIns="0" rtlCol="0" anchor="t"/>
          <a:lstStyle/>
          <a:p>
            <a:pPr indent="0" marL="0">
              <a:buNone/>
            </a:pPr>
            <a:r>
              <a:rPr lang="en-US" sz="1400" dirty="0">
                <a:solidFill>
                  <a:schemeClr val="tx2"/>
                </a:solidFill>
              </a:rPr>
              <a:t>Stability complaints reached 25% of negative reviews in Q3 2026.</a:t>
            </a:r>
            <a:endParaRPr lang="en-US" sz="1400" dirty="0"/>
          </a:p>
        </p:txBody>
      </p:sp>
      <p:sp>
        <p:nvSpPr>
          <p:cNvPr id="23" name="do first"/>
          <p:cNvSpPr txBox="1"/>
          <p:nvPr/>
        </p:nvSpPr>
        <p:spPr>
          <a:xfrm>
            <a:off x="457200" y="4343400"/>
            <a:ext cx="8229600" cy="320040"/>
          </a:xfrm>
          <a:prstGeom prst="rect">
            <a:avLst/>
          </a:prstGeom>
          <a:noFill/>
          <a:ln/>
        </p:spPr>
        <p:txBody>
          <a:bodyPr wrap="square" lIns="0" tIns="0" rIns="0" bIns="0" rtlCol="0" anchor="ctr"/>
          <a:lstStyle/>
          <a:p>
            <a:pPr indent="0" marL="0">
              <a:buNone/>
            </a:pPr>
            <a:r>
              <a:rPr lang="en-US" sz="1400" b="1" dirty="0">
                <a:solidFill>
                  <a:schemeClr val="tx1"/>
                </a:solidFill>
              </a:rPr>
              <a:t>Do first: </a:t>
            </a:r>
            <a:pPr indent="0" marL="0">
              <a:buNone/>
            </a:pPr>
            <a:r>
              <a:rPr lang="en-US" sz="1400" dirty="0">
                <a:solidFill>
                  <a:schemeClr val="tx2"/>
                </a:solidFill>
              </a:rPr>
              <a:t>fix the false install lock-out, gate releases, restart replies, drop the rating wall.</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40080"/>
          </a:xfrm>
          <a:prstGeom prst="rect">
            <a:avLst/>
          </a:prstGeom>
          <a:noFill/>
          <a:ln/>
        </p:spPr>
        <p:txBody>
          <a:bodyPr wrap="square" lIns="0" tIns="0" rIns="0" bIns="0" rtlCol="0" anchor="ctr"/>
          <a:lstStyle/>
          <a:p>
            <a:pPr indent="0" marL="0">
              <a:buNone/>
            </a:pPr>
            <a:r>
              <a:rPr lang="en-US" sz="3000" b="1" dirty="0">
                <a:solidFill>
                  <a:schemeClr val="tx1"/>
                </a:solidFill>
              </a:rPr>
              <a:t>Not behind the market</a:t>
            </a:r>
            <a:endParaRPr lang="en-US" sz="3000" dirty="0"/>
          </a:p>
        </p:txBody>
      </p:sp>
      <p:graphicFrame>
        <p:nvGraphicFramePr>
          <p:cNvPr id="3" name="benchmark chart" descr=""/>
          <p:cNvGraphicFramePr/>
          <p:nvPr/>
        </p:nvGraphicFramePr>
        <p:xfrm>
          <a:off x="365760" y="1005840"/>
          <a:ext cx="5120640" cy="3611880"/>
        </p:xfrm>
        <a:graphic xmlns:a="http://schemas.openxmlformats.org/drawingml/2006/main">
          <a:graphicData uri="http://schemas.openxmlformats.org/drawingml/2006/chart">
            <c:chart xmlns:c="http://schemas.openxmlformats.org/drawingml/2006/chart" r:id="rId1"/>
          </a:graphicData>
        </a:graphic>
      </p:graphicFrame>
      <p:sp>
        <p:nvSpPr>
          <p:cNvPr id="4" name="gap value"/>
          <p:cNvSpPr txBox="1"/>
          <p:nvPr/>
        </p:nvSpPr>
        <p:spPr>
          <a:xfrm>
            <a:off x="5852160" y="1051560"/>
            <a:ext cx="2834640" cy="502920"/>
          </a:xfrm>
          <a:prstGeom prst="rect">
            <a:avLst/>
          </a:prstGeom>
          <a:noFill/>
          <a:ln/>
        </p:spPr>
        <p:txBody>
          <a:bodyPr wrap="square" lIns="0" tIns="0" rIns="0" bIns="0" rtlCol="0" anchor="b"/>
          <a:lstStyle/>
          <a:p>
            <a:pPr indent="0" marL="0">
              <a:buNone/>
            </a:pPr>
            <a:r>
              <a:rPr lang="en-US" sz="3200" b="1" dirty="0">
                <a:solidFill>
                  <a:schemeClr val="tx1"/>
                </a:solidFill>
                <a:latin typeface="Cambria" pitchFamily="34" charset="0"/>
                <a:ea typeface="Cambria" pitchFamily="34" charset="-122"/>
                <a:cs typeface="Cambria" pitchFamily="34" charset="-120"/>
              </a:rPr>
              <a:t>0.011</a:t>
            </a:r>
            <a:endParaRPr lang="en-US" sz="3200" dirty="0"/>
          </a:p>
        </p:txBody>
      </p:sp>
      <p:sp>
        <p:nvSpPr>
          <p:cNvPr id="5" name="gap label"/>
          <p:cNvSpPr txBox="1"/>
          <p:nvPr/>
        </p:nvSpPr>
        <p:spPr>
          <a:xfrm>
            <a:off x="5852160" y="1581912"/>
            <a:ext cx="2834640" cy="502920"/>
          </a:xfrm>
          <a:prstGeom prst="rect">
            <a:avLst/>
          </a:prstGeom>
          <a:noFill/>
          <a:ln/>
        </p:spPr>
        <p:txBody>
          <a:bodyPr wrap="square" lIns="0" tIns="0" rIns="0" bIns="0" rtlCol="0" anchor="t"/>
          <a:lstStyle/>
          <a:p>
            <a:pPr indent="0" marL="0">
              <a:buNone/>
            </a:pPr>
            <a:r>
              <a:rPr lang="en-US" sz="1400" dirty="0">
                <a:solidFill>
                  <a:schemeClr val="tx2"/>
                </a:solidFill>
              </a:rPr>
              <a:t>stars from showing 4.7 — Play rounds 4.639 down to 4.6</a:t>
            </a:r>
            <a:endParaRPr lang="en-US" sz="1400" dirty="0"/>
          </a:p>
        </p:txBody>
      </p:sp>
      <p:sp>
        <p:nvSpPr>
          <p:cNvPr id="6" name="volume value"/>
          <p:cNvSpPr txBox="1"/>
          <p:nvPr/>
        </p:nvSpPr>
        <p:spPr>
          <a:xfrm>
            <a:off x="5852160" y="2240280"/>
            <a:ext cx="2834640" cy="502920"/>
          </a:xfrm>
          <a:prstGeom prst="rect">
            <a:avLst/>
          </a:prstGeom>
          <a:noFill/>
          <a:ln/>
        </p:spPr>
        <p:txBody>
          <a:bodyPr wrap="square" lIns="0" tIns="0" rIns="0" bIns="0" rtlCol="0" anchor="b"/>
          <a:lstStyle/>
          <a:p>
            <a:pPr indent="0" marL="0">
              <a:buNone/>
            </a:pPr>
            <a:r>
              <a:rPr lang="en-US" sz="3200" b="1" dirty="0">
                <a:solidFill>
                  <a:schemeClr val="tx1"/>
                </a:solidFill>
                <a:latin typeface="Cambria" pitchFamily="34" charset="0"/>
                <a:ea typeface="Cambria" pitchFamily="34" charset="-122"/>
                <a:cs typeface="Cambria" pitchFamily="34" charset="-120"/>
              </a:rPr>
              <a:t>114,880</a:t>
            </a:r>
            <a:endParaRPr lang="en-US" sz="3200" dirty="0"/>
          </a:p>
        </p:txBody>
      </p:sp>
      <p:sp>
        <p:nvSpPr>
          <p:cNvPr id="7" name="volume label"/>
          <p:cNvSpPr txBox="1"/>
          <p:nvPr/>
        </p:nvSpPr>
        <p:spPr>
          <a:xfrm>
            <a:off x="5852160" y="2770632"/>
            <a:ext cx="2834640" cy="502920"/>
          </a:xfrm>
          <a:prstGeom prst="rect">
            <a:avLst/>
          </a:prstGeom>
          <a:noFill/>
          <a:ln/>
        </p:spPr>
        <p:txBody>
          <a:bodyPr wrap="square" lIns="0" tIns="0" rIns="0" bIns="0" rtlCol="0" anchor="t"/>
          <a:lstStyle/>
          <a:p>
            <a:pPr indent="0" marL="0">
              <a:buNone/>
            </a:pPr>
            <a:r>
              <a:rPr lang="en-US" sz="1400" dirty="0">
                <a:solidFill>
                  <a:schemeClr val="tx2"/>
                </a:solidFill>
              </a:rPr>
              <a:t>ratings: nearly 5× Safetrax's, and more than the other seven combined</a:t>
            </a:r>
            <a:endParaRPr lang="en-US" sz="1400" dirty="0"/>
          </a:p>
        </p:txBody>
      </p:sp>
      <p:sp>
        <p:nvSpPr>
          <p:cNvPr id="8" name="country value"/>
          <p:cNvSpPr txBox="1"/>
          <p:nvPr/>
        </p:nvSpPr>
        <p:spPr>
          <a:xfrm>
            <a:off x="5852160" y="3429000"/>
            <a:ext cx="2834640" cy="502920"/>
          </a:xfrm>
          <a:prstGeom prst="rect">
            <a:avLst/>
          </a:prstGeom>
          <a:noFill/>
          <a:ln/>
        </p:spPr>
        <p:txBody>
          <a:bodyPr wrap="square" lIns="0" tIns="0" rIns="0" bIns="0" rtlCol="0" anchor="b"/>
          <a:lstStyle/>
          <a:p>
            <a:pPr indent="0" marL="0">
              <a:buNone/>
            </a:pPr>
            <a:r>
              <a:rPr lang="en-US" sz="3200" b="1" dirty="0">
                <a:solidFill>
                  <a:schemeClr val="tx1"/>
                </a:solidFill>
                <a:latin typeface="Cambria" pitchFamily="34" charset="0"/>
                <a:ea typeface="Cambria" pitchFamily="34" charset="-122"/>
                <a:cs typeface="Cambria" pitchFamily="34" charset="-120"/>
              </a:rPr>
              <a:t>4.3★</a:t>
            </a:r>
            <a:endParaRPr lang="en-US" sz="3200" dirty="0"/>
          </a:p>
        </p:txBody>
      </p:sp>
      <p:sp>
        <p:nvSpPr>
          <p:cNvPr id="9" name="country label"/>
          <p:cNvSpPr txBox="1"/>
          <p:nvPr/>
        </p:nvSpPr>
        <p:spPr>
          <a:xfrm>
            <a:off x="5852160" y="3959352"/>
            <a:ext cx="2834640" cy="502920"/>
          </a:xfrm>
          <a:prstGeom prst="rect">
            <a:avLst/>
          </a:prstGeom>
          <a:noFill/>
          <a:ln/>
        </p:spPr>
        <p:txBody>
          <a:bodyPr wrap="square" lIns="0" tIns="0" rIns="0" bIns="0" rtlCol="0" anchor="t"/>
          <a:lstStyle/>
          <a:p>
            <a:pPr indent="0" marL="0">
              <a:buNone/>
            </a:pPr>
            <a:r>
              <a:rPr lang="en-US" sz="1400" dirty="0">
                <a:solidFill>
                  <a:schemeClr val="tx2"/>
                </a:solidFill>
              </a:rPr>
              <a:t>what the same app shows in the US; ratings are per country</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40080"/>
          </a:xfrm>
          <a:prstGeom prst="rect">
            <a:avLst/>
          </a:prstGeom>
          <a:noFill/>
          <a:ln/>
        </p:spPr>
        <p:txBody>
          <a:bodyPr wrap="square" lIns="0" tIns="0" rIns="0" bIns="0" rtlCol="0" anchor="ctr"/>
          <a:lstStyle/>
          <a:p>
            <a:pPr indent="0" marL="0">
              <a:buNone/>
            </a:pPr>
            <a:r>
              <a:rPr lang="en-US" sz="3000" b="1" dirty="0">
                <a:solidFill>
                  <a:schemeClr val="tx1"/>
                </a:solidFill>
              </a:rPr>
              <a:t>The problem is what people read</a:t>
            </a:r>
            <a:endParaRPr lang="en-US" sz="3000" dirty="0"/>
          </a:p>
        </p:txBody>
      </p:sp>
      <p:sp>
        <p:nvSpPr>
          <p:cNvPr id="3" name="written avg value"/>
          <p:cNvSpPr txBox="1"/>
          <p:nvPr/>
        </p:nvSpPr>
        <p:spPr>
          <a:xfrm>
            <a:off x="457200" y="1051560"/>
            <a:ext cx="3200400" cy="502920"/>
          </a:xfrm>
          <a:prstGeom prst="rect">
            <a:avLst/>
          </a:prstGeom>
          <a:noFill/>
          <a:ln/>
        </p:spPr>
        <p:txBody>
          <a:bodyPr wrap="square" lIns="0" tIns="0" rIns="0" bIns="0" rtlCol="0" anchor="b"/>
          <a:lstStyle/>
          <a:p>
            <a:pPr indent="0" marL="0">
              <a:buNone/>
            </a:pPr>
            <a:r>
              <a:rPr lang="en-US" sz="3200" b="1" dirty="0">
                <a:solidFill>
                  <a:schemeClr val="tx1"/>
                </a:solidFill>
                <a:latin typeface="Cambria" pitchFamily="34" charset="0"/>
                <a:ea typeface="Cambria" pitchFamily="34" charset="-122"/>
                <a:cs typeface="Cambria" pitchFamily="34" charset="-120"/>
              </a:rPr>
              <a:t>3.84★</a:t>
            </a:r>
            <a:endParaRPr lang="en-US" sz="3200" dirty="0"/>
          </a:p>
        </p:txBody>
      </p:sp>
      <p:sp>
        <p:nvSpPr>
          <p:cNvPr id="4" name="written avg label"/>
          <p:cNvSpPr txBox="1"/>
          <p:nvPr/>
        </p:nvSpPr>
        <p:spPr>
          <a:xfrm>
            <a:off x="457200" y="1581912"/>
            <a:ext cx="3200400" cy="502920"/>
          </a:xfrm>
          <a:prstGeom prst="rect">
            <a:avLst/>
          </a:prstGeom>
          <a:noFill/>
          <a:ln/>
        </p:spPr>
        <p:txBody>
          <a:bodyPr wrap="square" lIns="0" tIns="0" rIns="0" bIns="0" rtlCol="0" anchor="t"/>
          <a:lstStyle/>
          <a:p>
            <a:pPr indent="0" marL="0">
              <a:buNone/>
            </a:pPr>
            <a:r>
              <a:rPr lang="en-US" sz="1400" dirty="0">
                <a:solidFill>
                  <a:schemeClr val="tx2"/>
                </a:solidFill>
              </a:rPr>
              <a:t>average of written reviews, last 12 months (store shows 4.64)</a:t>
            </a:r>
            <a:endParaRPr lang="en-US" sz="1400" dirty="0"/>
          </a:p>
        </p:txBody>
      </p:sp>
      <p:sp>
        <p:nvSpPr>
          <p:cNvPr id="5" name="one star value"/>
          <p:cNvSpPr txBox="1"/>
          <p:nvPr/>
        </p:nvSpPr>
        <p:spPr>
          <a:xfrm>
            <a:off x="457200" y="2240280"/>
            <a:ext cx="3200400" cy="502920"/>
          </a:xfrm>
          <a:prstGeom prst="rect">
            <a:avLst/>
          </a:prstGeom>
          <a:noFill/>
          <a:ln/>
        </p:spPr>
        <p:txBody>
          <a:bodyPr wrap="square" lIns="0" tIns="0" rIns="0" bIns="0" rtlCol="0" anchor="b"/>
          <a:lstStyle/>
          <a:p>
            <a:pPr indent="0" marL="0">
              <a:buNone/>
            </a:pPr>
            <a:r>
              <a:rPr lang="en-US" sz="3200" b="1" dirty="0">
                <a:solidFill>
                  <a:schemeClr val="tx1"/>
                </a:solidFill>
                <a:latin typeface="Cambria" pitchFamily="34" charset="0"/>
                <a:ea typeface="Cambria" pitchFamily="34" charset="-122"/>
                <a:cs typeface="Cambria" pitchFamily="34" charset="-120"/>
              </a:rPr>
              <a:t>24%</a:t>
            </a:r>
            <a:endParaRPr lang="en-US" sz="3200" dirty="0"/>
          </a:p>
        </p:txBody>
      </p:sp>
      <p:sp>
        <p:nvSpPr>
          <p:cNvPr id="6" name="one star label"/>
          <p:cNvSpPr txBox="1"/>
          <p:nvPr/>
        </p:nvSpPr>
        <p:spPr>
          <a:xfrm>
            <a:off x="457200" y="2770632"/>
            <a:ext cx="3200400" cy="502920"/>
          </a:xfrm>
          <a:prstGeom prst="rect">
            <a:avLst/>
          </a:prstGeom>
          <a:noFill/>
          <a:ln/>
        </p:spPr>
        <p:txBody>
          <a:bodyPr wrap="square" lIns="0" tIns="0" rIns="0" bIns="0" rtlCol="0" anchor="t"/>
          <a:lstStyle/>
          <a:p>
            <a:pPr indent="0" marL="0">
              <a:buNone/>
            </a:pPr>
            <a:r>
              <a:rPr lang="en-US" sz="1400" dirty="0">
                <a:solidFill>
                  <a:schemeClr val="tx2"/>
                </a:solidFill>
              </a:rPr>
              <a:t>of those written reviews are 1★</a:t>
            </a:r>
            <a:endParaRPr lang="en-US" sz="1400" dirty="0"/>
          </a:p>
        </p:txBody>
      </p:sp>
      <p:sp>
        <p:nvSpPr>
          <p:cNvPr id="7" name="visitor value"/>
          <p:cNvSpPr txBox="1"/>
          <p:nvPr/>
        </p:nvSpPr>
        <p:spPr>
          <a:xfrm>
            <a:off x="457200" y="3429000"/>
            <a:ext cx="3200400" cy="502920"/>
          </a:xfrm>
          <a:prstGeom prst="rect">
            <a:avLst/>
          </a:prstGeom>
          <a:noFill/>
          <a:ln/>
        </p:spPr>
        <p:txBody>
          <a:bodyPr wrap="square" lIns="0" tIns="0" rIns="0" bIns="0" rtlCol="0" anchor="b"/>
          <a:lstStyle/>
          <a:p>
            <a:pPr indent="0" marL="0">
              <a:buNone/>
            </a:pPr>
            <a:r>
              <a:rPr lang="en-US" sz="3200" b="1" dirty="0">
                <a:solidFill>
                  <a:schemeClr val="tx1"/>
                </a:solidFill>
                <a:latin typeface="Cambria" pitchFamily="34" charset="0"/>
                <a:ea typeface="Cambria" pitchFamily="34" charset="-122"/>
                <a:cs typeface="Cambria" pitchFamily="34" charset="-120"/>
              </a:rPr>
              <a:t>9 of 10</a:t>
            </a:r>
            <a:endParaRPr lang="en-US" sz="3200" dirty="0"/>
          </a:p>
        </p:txBody>
      </p:sp>
      <p:sp>
        <p:nvSpPr>
          <p:cNvPr id="8" name="visitor label"/>
          <p:cNvSpPr txBox="1"/>
          <p:nvPr/>
        </p:nvSpPr>
        <p:spPr>
          <a:xfrm>
            <a:off x="457200" y="3959352"/>
            <a:ext cx="3200400" cy="502920"/>
          </a:xfrm>
          <a:prstGeom prst="rect">
            <a:avLst/>
          </a:prstGeom>
          <a:noFill/>
          <a:ln/>
        </p:spPr>
        <p:txBody>
          <a:bodyPr wrap="square" lIns="0" tIns="0" rIns="0" bIns="0" rtlCol="0" anchor="t"/>
          <a:lstStyle/>
          <a:p>
            <a:pPr indent="0" marL="0">
              <a:buNone/>
            </a:pPr>
            <a:r>
              <a:rPr lang="en-US" sz="1400" dirty="0">
                <a:solidFill>
                  <a:schemeClr val="tx2"/>
                </a:solidFill>
              </a:rPr>
              <a:t>first reviews a visitor sees are 1–2★ — and 9 are unanswered</a:t>
            </a:r>
            <a:endParaRPr lang="en-US" sz="1400" dirty="0"/>
          </a:p>
        </p:txBody>
      </p:sp>
      <p:graphicFrame>
        <p:nvGraphicFramePr>
          <p:cNvPr id="9" name="reply chart" descr=""/>
          <p:cNvGraphicFramePr/>
          <p:nvPr/>
        </p:nvGraphicFramePr>
        <p:xfrm>
          <a:off x="3931920" y="1005840"/>
          <a:ext cx="4754880" cy="3063240"/>
        </p:xfrm>
        <a:graphic xmlns:a="http://schemas.openxmlformats.org/drawingml/2006/main">
          <a:graphicData uri="http://schemas.openxmlformats.org/drawingml/2006/chart">
            <c:chart xmlns:c="http://schemas.openxmlformats.org/drawingml/2006/chart" r:id="rId1"/>
          </a:graphicData>
        </a:graphic>
      </p:graphicFrame>
      <p:sp>
        <p:nvSpPr>
          <p:cNvPr id="10" name="reply note"/>
          <p:cNvSpPr txBox="1"/>
          <p:nvPr/>
        </p:nvSpPr>
        <p:spPr>
          <a:xfrm>
            <a:off x="3931920" y="4160520"/>
            <a:ext cx="4754880" cy="457200"/>
          </a:xfrm>
          <a:prstGeom prst="rect">
            <a:avLst/>
          </a:prstGeom>
          <a:noFill/>
          <a:ln/>
        </p:spPr>
        <p:txBody>
          <a:bodyPr wrap="square" lIns="0" tIns="0" rIns="0" bIns="0" rtlCol="0" anchor="ctr"/>
          <a:lstStyle/>
          <a:p>
            <a:pPr indent="0" marL="0">
              <a:buNone/>
            </a:pPr>
            <a:r>
              <a:rPr lang="en-US" sz="1400" dirty="0">
                <a:solidFill>
                  <a:schemeClr val="tx2"/>
                </a:solidFill>
              </a:rPr>
              <a:t>Replies stopped in mid-2024. Safetrax answers 100%, Routematic 92%.</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40080"/>
          </a:xfrm>
          <a:prstGeom prst="rect">
            <a:avLst/>
          </a:prstGeom>
          <a:noFill/>
          <a:ln/>
        </p:spPr>
        <p:txBody>
          <a:bodyPr wrap="square" lIns="0" tIns="0" rIns="0" bIns="0" rtlCol="0" anchor="ctr"/>
          <a:lstStyle/>
          <a:p>
            <a:pPr indent="0" marL="0">
              <a:buNone/>
            </a:pPr>
            <a:r>
              <a:rPr lang="en-US" sz="3000" b="1" dirty="0">
                <a:solidFill>
                  <a:schemeClr val="tx1"/>
                </a:solidFill>
              </a:rPr>
              <a:t>It's the app, not the cabs</a:t>
            </a:r>
            <a:endParaRPr lang="en-US" sz="3000" dirty="0"/>
          </a:p>
        </p:txBody>
      </p:sp>
      <p:graphicFrame>
        <p:nvGraphicFramePr>
          <p:cNvPr id="3" name="journey chart" descr=""/>
          <p:cNvGraphicFramePr/>
          <p:nvPr/>
        </p:nvGraphicFramePr>
        <p:xfrm>
          <a:off x="365760" y="1005840"/>
          <a:ext cx="5486400" cy="3611880"/>
        </p:xfrm>
        <a:graphic xmlns:a="http://schemas.openxmlformats.org/drawingml/2006/main">
          <a:graphicData uri="http://schemas.openxmlformats.org/drawingml/2006/chart">
            <c:chart xmlns:c="http://schemas.openxmlformats.org/drawingml/2006/chart" r:id="rId1"/>
          </a:graphicData>
        </a:graphic>
      </p:graphicFrame>
      <p:sp>
        <p:nvSpPr>
          <p:cNvPr id="4" name="app share value"/>
          <p:cNvSpPr txBox="1"/>
          <p:nvPr/>
        </p:nvSpPr>
        <p:spPr>
          <a:xfrm>
            <a:off x="6217920" y="1005840"/>
            <a:ext cx="2468880" cy="502920"/>
          </a:xfrm>
          <a:prstGeom prst="rect">
            <a:avLst/>
          </a:prstGeom>
          <a:noFill/>
          <a:ln/>
        </p:spPr>
        <p:txBody>
          <a:bodyPr wrap="square" lIns="0" tIns="0" rIns="0" bIns="0" rtlCol="0" anchor="b"/>
          <a:lstStyle/>
          <a:p>
            <a:pPr indent="0" marL="0">
              <a:buNone/>
            </a:pPr>
            <a:r>
              <a:rPr lang="en-US" sz="2800" b="1" dirty="0">
                <a:solidFill>
                  <a:schemeClr val="tx1"/>
                </a:solidFill>
                <a:latin typeface="Cambria" pitchFamily="34" charset="0"/>
                <a:ea typeface="Cambria" pitchFamily="34" charset="-122"/>
                <a:cs typeface="Cambria" pitchFamily="34" charset="-120"/>
              </a:rPr>
              <a:t>73%</a:t>
            </a:r>
            <a:endParaRPr lang="en-US" sz="2800" dirty="0"/>
          </a:p>
        </p:txBody>
      </p:sp>
      <p:sp>
        <p:nvSpPr>
          <p:cNvPr id="5" name="app share label"/>
          <p:cNvSpPr txBox="1"/>
          <p:nvPr/>
        </p:nvSpPr>
        <p:spPr>
          <a:xfrm>
            <a:off x="6217920" y="1536192"/>
            <a:ext cx="2468880" cy="274320"/>
          </a:xfrm>
          <a:prstGeom prst="rect">
            <a:avLst/>
          </a:prstGeom>
          <a:noFill/>
          <a:ln/>
        </p:spPr>
        <p:txBody>
          <a:bodyPr wrap="square" lIns="0" tIns="0" rIns="0" bIns="0" rtlCol="0" anchor="t"/>
          <a:lstStyle/>
          <a:p>
            <a:pPr indent="0" marL="0">
              <a:buNone/>
            </a:pPr>
            <a:r>
              <a:rPr lang="en-US" sz="1400" dirty="0">
                <a:solidFill>
                  <a:schemeClr val="tx2"/>
                </a:solidFill>
              </a:rPr>
              <a:t>about the app itself</a:t>
            </a:r>
            <a:endParaRPr lang="en-US" sz="1400" dirty="0"/>
          </a:p>
        </p:txBody>
      </p:sp>
      <p:sp>
        <p:nvSpPr>
          <p:cNvPr id="6" name="mixed share value"/>
          <p:cNvSpPr txBox="1"/>
          <p:nvPr/>
        </p:nvSpPr>
        <p:spPr>
          <a:xfrm>
            <a:off x="6217920" y="1874520"/>
            <a:ext cx="2468880" cy="502920"/>
          </a:xfrm>
          <a:prstGeom prst="rect">
            <a:avLst/>
          </a:prstGeom>
          <a:noFill/>
          <a:ln/>
        </p:spPr>
        <p:txBody>
          <a:bodyPr wrap="square" lIns="0" tIns="0" rIns="0" bIns="0" rtlCol="0" anchor="b"/>
          <a:lstStyle/>
          <a:p>
            <a:pPr indent="0" marL="0">
              <a:buNone/>
            </a:pPr>
            <a:r>
              <a:rPr lang="en-US" sz="2800" b="1" dirty="0">
                <a:solidFill>
                  <a:schemeClr val="tx1"/>
                </a:solidFill>
                <a:latin typeface="Cambria" pitchFamily="34" charset="0"/>
                <a:ea typeface="Cambria" pitchFamily="34" charset="-122"/>
                <a:cs typeface="Cambria" pitchFamily="34" charset="-120"/>
              </a:rPr>
              <a:t>14%</a:t>
            </a:r>
            <a:endParaRPr lang="en-US" sz="2800" dirty="0"/>
          </a:p>
        </p:txBody>
      </p:sp>
      <p:sp>
        <p:nvSpPr>
          <p:cNvPr id="7" name="mixed share label"/>
          <p:cNvSpPr txBox="1"/>
          <p:nvPr/>
        </p:nvSpPr>
        <p:spPr>
          <a:xfrm>
            <a:off x="6217920" y="2404872"/>
            <a:ext cx="2468880" cy="457200"/>
          </a:xfrm>
          <a:prstGeom prst="rect">
            <a:avLst/>
          </a:prstGeom>
          <a:noFill/>
          <a:ln/>
        </p:spPr>
        <p:txBody>
          <a:bodyPr wrap="square" lIns="0" tIns="0" rIns="0" bIns="0" rtlCol="0" anchor="t"/>
          <a:lstStyle/>
          <a:p>
            <a:pPr indent="0" marL="0">
              <a:buNone/>
            </a:pPr>
            <a:r>
              <a:rPr lang="en-US" sz="1400" dirty="0">
                <a:solidFill>
                  <a:schemeClr val="tx2"/>
                </a:solidFill>
              </a:rPr>
              <a:t>app + operations (mostly routing)</a:t>
            </a:r>
            <a:endParaRPr lang="en-US" sz="1400" dirty="0"/>
          </a:p>
        </p:txBody>
      </p:sp>
      <p:sp>
        <p:nvSpPr>
          <p:cNvPr id="8" name="ops share value"/>
          <p:cNvSpPr txBox="1"/>
          <p:nvPr/>
        </p:nvSpPr>
        <p:spPr>
          <a:xfrm>
            <a:off x="6217920" y="2743200"/>
            <a:ext cx="2468880" cy="502920"/>
          </a:xfrm>
          <a:prstGeom prst="rect">
            <a:avLst/>
          </a:prstGeom>
          <a:noFill/>
          <a:ln/>
        </p:spPr>
        <p:txBody>
          <a:bodyPr wrap="square" lIns="0" tIns="0" rIns="0" bIns="0" rtlCol="0" anchor="b"/>
          <a:lstStyle/>
          <a:p>
            <a:pPr indent="0" marL="0">
              <a:buNone/>
            </a:pPr>
            <a:r>
              <a:rPr lang="en-US" sz="2800" b="1" dirty="0">
                <a:solidFill>
                  <a:schemeClr val="tx1"/>
                </a:solidFill>
                <a:latin typeface="Cambria" pitchFamily="34" charset="0"/>
                <a:ea typeface="Cambria" pitchFamily="34" charset="-122"/>
                <a:cs typeface="Cambria" pitchFamily="34" charset="-120"/>
              </a:rPr>
              <a:t>11%</a:t>
            </a:r>
            <a:endParaRPr lang="en-US" sz="2800" dirty="0"/>
          </a:p>
        </p:txBody>
      </p:sp>
      <p:sp>
        <p:nvSpPr>
          <p:cNvPr id="9" name="ops share label"/>
          <p:cNvSpPr txBox="1"/>
          <p:nvPr/>
        </p:nvSpPr>
        <p:spPr>
          <a:xfrm>
            <a:off x="6217920" y="3273552"/>
            <a:ext cx="2468880" cy="274320"/>
          </a:xfrm>
          <a:prstGeom prst="rect">
            <a:avLst/>
          </a:prstGeom>
          <a:noFill/>
          <a:ln/>
        </p:spPr>
        <p:txBody>
          <a:bodyPr wrap="square" lIns="0" tIns="0" rIns="0" bIns="0" rtlCol="0" anchor="t"/>
          <a:lstStyle/>
          <a:p>
            <a:pPr indent="0" marL="0">
              <a:buNone/>
            </a:pPr>
            <a:r>
              <a:rPr lang="en-US" sz="1400" dirty="0">
                <a:solidFill>
                  <a:schemeClr val="tx2"/>
                </a:solidFill>
              </a:rPr>
              <a:t>purely the transport service</a:t>
            </a:r>
            <a:endParaRPr lang="en-US" sz="1400" dirty="0"/>
          </a:p>
        </p:txBody>
      </p:sp>
      <p:sp>
        <p:nvSpPr>
          <p:cNvPr id="10" name="cab share value"/>
          <p:cNvSpPr txBox="1"/>
          <p:nvPr/>
        </p:nvSpPr>
        <p:spPr>
          <a:xfrm>
            <a:off x="6217920" y="3611880"/>
            <a:ext cx="2468880" cy="502920"/>
          </a:xfrm>
          <a:prstGeom prst="rect">
            <a:avLst/>
          </a:prstGeom>
          <a:noFill/>
          <a:ln/>
        </p:spPr>
        <p:txBody>
          <a:bodyPr wrap="square" lIns="0" tIns="0" rIns="0" bIns="0" rtlCol="0" anchor="b"/>
          <a:lstStyle/>
          <a:p>
            <a:pPr indent="0" marL="0">
              <a:buNone/>
            </a:pPr>
            <a:r>
              <a:rPr lang="en-US" sz="2800" b="1" dirty="0">
                <a:solidFill>
                  <a:schemeClr val="tx1"/>
                </a:solidFill>
                <a:latin typeface="Cambria" pitchFamily="34" charset="0"/>
                <a:ea typeface="Cambria" pitchFamily="34" charset="-122"/>
                <a:cs typeface="Cambria" pitchFamily="34" charset="-120"/>
              </a:rPr>
              <a:t>&lt;5%</a:t>
            </a:r>
            <a:endParaRPr lang="en-US" sz="2800" dirty="0"/>
          </a:p>
        </p:txBody>
      </p:sp>
      <p:sp>
        <p:nvSpPr>
          <p:cNvPr id="11" name="cab share label"/>
          <p:cNvSpPr txBox="1"/>
          <p:nvPr/>
        </p:nvSpPr>
        <p:spPr>
          <a:xfrm>
            <a:off x="6217920" y="4142232"/>
            <a:ext cx="2468880" cy="457200"/>
          </a:xfrm>
          <a:prstGeom prst="rect">
            <a:avLst/>
          </a:prstGeom>
          <a:noFill/>
          <a:ln/>
        </p:spPr>
        <p:txBody>
          <a:bodyPr wrap="square" lIns="0" tIns="0" rIns="0" bIns="0" rtlCol="0" anchor="t"/>
          <a:lstStyle/>
          <a:p>
            <a:pPr indent="0" marL="0">
              <a:buNone/>
            </a:pPr>
            <a:r>
              <a:rPr lang="en-US" sz="1400" dirty="0">
                <a:solidFill>
                  <a:schemeClr val="tx2"/>
                </a:solidFill>
              </a:rPr>
              <a:t>late, unassigned or missed cabs</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40080"/>
          </a:xfrm>
          <a:prstGeom prst="rect">
            <a:avLst/>
          </a:prstGeom>
          <a:noFill/>
          <a:ln/>
        </p:spPr>
        <p:txBody>
          <a:bodyPr wrap="square" lIns="0" tIns="0" rIns="0" bIns="0" rtlCol="0" anchor="ctr"/>
          <a:lstStyle/>
          <a:p>
            <a:pPr indent="0" marL="0">
              <a:buNone/>
            </a:pPr>
            <a:r>
              <a:rPr lang="en-US" sz="3000" b="1" dirty="0">
                <a:solidFill>
                  <a:schemeClr val="tx1"/>
                </a:solidFill>
              </a:rPr>
              <a:t>A stability regression is live now</a:t>
            </a:r>
            <a:endParaRPr lang="en-US" sz="3000" dirty="0"/>
          </a:p>
        </p:txBody>
      </p:sp>
      <p:graphicFrame>
        <p:nvGraphicFramePr>
          <p:cNvPr id="3" name="regression chart" descr=""/>
          <p:cNvGraphicFramePr/>
          <p:nvPr/>
        </p:nvGraphicFramePr>
        <p:xfrm>
          <a:off x="365760" y="1005840"/>
          <a:ext cx="4937760" cy="3611880"/>
        </p:xfrm>
        <a:graphic xmlns:a="http://schemas.openxmlformats.org/drawingml/2006/main">
          <a:graphicData uri="http://schemas.openxmlformats.org/drawingml/2006/chart">
            <c:chart xmlns:c="http://schemas.openxmlformats.org/drawingml/2006/chart" r:id="rId1"/>
          </a:graphicData>
        </a:graphic>
      </p:graphicFrame>
      <p:sp>
        <p:nvSpPr>
          <p:cNvPr id="4" name="regression facts"/>
          <p:cNvSpPr txBox="1"/>
          <p:nvPr/>
        </p:nvSpPr>
        <p:spPr>
          <a:xfrm>
            <a:off x="5577840" y="1051560"/>
            <a:ext cx="3108960" cy="35661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2"/>
                </a:solidFill>
              </a:rPr>
              <a:t>Stability: 16% → 25% of negative reviews in Q3 2026 (p ≈ 0.01)</a:t>
            </a:r>
            <a:endParaRPr lang="en-US" sz="1400" dirty="0"/>
          </a:p>
          <a:p>
            <a:pPr marL="342900" indent="-342900">
              <a:spcAft>
                <a:spcPts val="800"/>
              </a:spcAft>
              <a:buSzPct val="100000"/>
              <a:buChar char="•"/>
            </a:pPr>
            <a:r>
              <a:rPr lang="en-US" sz="1400" dirty="0">
                <a:solidFill>
                  <a:schemeClr val="tx2"/>
                </a:solidFill>
              </a:rPr>
              <a:t>Concentrated in versions 12.16, 12.17 and 12.19 (current)</a:t>
            </a:r>
            <a:endParaRPr lang="en-US" sz="1400" dirty="0"/>
          </a:p>
          <a:p>
            <a:pPr marL="342900" indent="-342900">
              <a:spcAft>
                <a:spcPts val="800"/>
              </a:spcAft>
              <a:buSzPct val="100000"/>
              <a:buChar char="•"/>
            </a:pPr>
            <a:r>
              <a:rPr lang="en-US" sz="1400" dirty="0">
                <a:solidFill>
                  <a:schemeClr val="tx2"/>
                </a:solidFill>
              </a:rPr>
              <a:t>False "not installed from Play Store" lock-out: 9 of 12 ever reported came in Jul–Sep 2026</a:t>
            </a:r>
            <a:endParaRPr lang="en-US" sz="1400" dirty="0"/>
          </a:p>
          <a:p>
            <a:pPr marL="342900" indent="-342900">
              <a:spcAft>
                <a:spcPts val="800"/>
              </a:spcAft>
              <a:buSzPct val="100000"/>
              <a:buChar char="•"/>
            </a:pPr>
            <a:r>
              <a:rPr lang="en-US" sz="1400" dirty="0">
                <a:solidFill>
                  <a:schemeClr val="tx2"/>
                </a:solidFill>
              </a:rPr>
              <a:t>Same failure in Q4 2023: 43 false "rooted device" blocks</a:t>
            </a:r>
            <a:endParaRPr lang="en-US" sz="1400" dirty="0"/>
          </a:p>
          <a:p>
            <a:pPr marL="342900" indent="-342900">
              <a:spcAft>
                <a:spcPts val="800"/>
              </a:spcAft>
              <a:buSzPct val="100000"/>
              <a:buChar char="•"/>
            </a:pPr>
            <a:r>
              <a:rPr lang="en-US" sz="1400" dirty="0">
                <a:solidFill>
                  <a:schemeClr val="tx2"/>
                </a:solidFill>
              </a:rPr>
              <a:t>Login complaints fell 22% → 9%: fixes do show up in reviews</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40080"/>
          </a:xfrm>
          <a:prstGeom prst="rect">
            <a:avLst/>
          </a:prstGeom>
          <a:noFill/>
          <a:ln/>
        </p:spPr>
        <p:txBody>
          <a:bodyPr wrap="square" lIns="0" tIns="0" rIns="0" bIns="0" rtlCol="0" anchor="ctr"/>
          <a:lstStyle/>
          <a:p>
            <a:pPr indent="0" marL="0">
              <a:buNone/>
            </a:pPr>
            <a:r>
              <a:rPr lang="en-US" sz="3000" b="1" dirty="0">
                <a:solidFill>
                  <a:schemeClr val="tx1"/>
                </a:solidFill>
              </a:rPr>
              <a:t>Two things to check on day 1</a:t>
            </a:r>
            <a:endParaRPr lang="en-US" sz="3000" dirty="0"/>
          </a:p>
        </p:txBody>
      </p:sp>
      <p:sp>
        <p:nvSpPr>
          <p:cNvPr id="3" name="check card 1"/>
          <p:cNvSpPr/>
          <p:nvPr/>
        </p:nvSpPr>
        <p:spPr>
          <a:xfrm>
            <a:off x="457200" y="1051560"/>
            <a:ext cx="4023360" cy="3154680"/>
          </a:xfrm>
          <a:prstGeom prst="roundRect">
            <a:avLst>
              <a:gd name="adj" fmla="val 2319"/>
            </a:avLst>
          </a:prstGeom>
          <a:solidFill>
            <a:schemeClr val="bg2"/>
          </a:solidFill>
          <a:ln/>
        </p:spPr>
      </p:sp>
      <p:sp>
        <p:nvSpPr>
          <p:cNvPr id="4" name="check badge 1"/>
          <p:cNvSpPr/>
          <p:nvPr/>
        </p:nvSpPr>
        <p:spPr>
          <a:xfrm>
            <a:off x="685800" y="1261872"/>
            <a:ext cx="384048" cy="384048"/>
          </a:xfrm>
          <a:prstGeom prst="ellipse">
            <a:avLst/>
          </a:prstGeom>
          <a:solidFill>
            <a:schemeClr val="accent1"/>
          </a:solidFill>
          <a:ln/>
        </p:spPr>
      </p:sp>
      <p:sp>
        <p:nvSpPr>
          <p:cNvPr id="5" name="check badge 1 label"/>
          <p:cNvSpPr txBox="1"/>
          <p:nvPr/>
        </p:nvSpPr>
        <p:spPr>
          <a:xfrm>
            <a:off x="685800" y="1261872"/>
            <a:ext cx="384048" cy="384048"/>
          </a:xfrm>
          <a:prstGeom prst="rect">
            <a:avLst/>
          </a:prstGeom>
          <a:noFill/>
          <a:ln/>
        </p:spPr>
        <p:txBody>
          <a:bodyPr wrap="square" lIns="0" tIns="0" rIns="0" bIns="0" rtlCol="0" anchor="ctr"/>
          <a:lstStyle/>
          <a:p>
            <a:pPr algn="ctr" indent="0" marL="0">
              <a:buNone/>
            </a:pPr>
            <a:r>
              <a:rPr lang="en-US" sz="1400" b="1" dirty="0">
                <a:solidFill>
                  <a:schemeClr val="tx1"/>
                </a:solidFill>
              </a:rPr>
              <a:t>!</a:t>
            </a:r>
            <a:endParaRPr lang="en-US" sz="1400" dirty="0"/>
          </a:p>
        </p:txBody>
      </p:sp>
      <p:sp>
        <p:nvSpPr>
          <p:cNvPr id="6" name="check head 1"/>
          <p:cNvSpPr txBox="1"/>
          <p:nvPr/>
        </p:nvSpPr>
        <p:spPr>
          <a:xfrm>
            <a:off x="1234440" y="1234440"/>
            <a:ext cx="3063240" cy="41148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The rating prompt</a:t>
            </a:r>
            <a:endParaRPr lang="en-US" sz="1800" dirty="0"/>
          </a:p>
        </p:txBody>
      </p:sp>
      <p:sp>
        <p:nvSpPr>
          <p:cNvPr id="7" name="check body 1"/>
          <p:cNvSpPr txBox="1"/>
          <p:nvPr/>
        </p:nvSpPr>
        <p:spPr>
          <a:xfrm>
            <a:off x="731520" y="1828800"/>
            <a:ext cx="3520440" cy="22860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2"/>
                </a:solidFill>
              </a:rPr>
              <a:t>20 complaints in 12 months about forced or repeated rating requests</a:t>
            </a:r>
            <a:endParaRPr lang="en-US" sz="1400" dirty="0"/>
          </a:p>
          <a:p>
            <a:pPr marL="342900" indent="-342900">
              <a:spcAft>
                <a:spcPts val="800"/>
              </a:spcAft>
              <a:buSzPct val="100000"/>
              <a:buChar char="•"/>
            </a:pPr>
            <a:r>
              <a:rPr lang="en-US" sz="1400" i="1" dirty="0">
                <a:solidFill>
                  <a:schemeClr val="tx2"/>
                </a:solidFill>
              </a:rPr>
              <a:t>"I have to mandatorily give a review of the previous ride before I can access current ride details"</a:t>
            </a:r>
            <a:endParaRPr lang="en-US" sz="1400" dirty="0"/>
          </a:p>
          <a:p>
            <a:pPr marL="342900" indent="-342900">
              <a:spcAft>
                <a:spcPts val="800"/>
              </a:spcAft>
              <a:buSzPct val="100000"/>
              <a:buChar char="•"/>
            </a:pPr>
            <a:r>
              <a:rPr lang="en-US" sz="1400" dirty="0">
                <a:solidFill>
                  <a:schemeClr val="tx2"/>
                </a:solidFill>
              </a:rPr>
              <a:t>3 reviews say it accepts only 4–5 stars. If it filters who reaches the Play prompt, that is review gating, which Google Play prohibits</a:t>
            </a:r>
            <a:endParaRPr lang="en-US" sz="1400" dirty="0"/>
          </a:p>
        </p:txBody>
      </p:sp>
      <p:sp>
        <p:nvSpPr>
          <p:cNvPr id="8" name="check card 2"/>
          <p:cNvSpPr/>
          <p:nvPr/>
        </p:nvSpPr>
        <p:spPr>
          <a:xfrm>
            <a:off x="4663440" y="1051560"/>
            <a:ext cx="4023360" cy="3154680"/>
          </a:xfrm>
          <a:prstGeom prst="roundRect">
            <a:avLst>
              <a:gd name="adj" fmla="val 2319"/>
            </a:avLst>
          </a:prstGeom>
          <a:solidFill>
            <a:schemeClr val="bg2"/>
          </a:solidFill>
          <a:ln/>
        </p:spPr>
      </p:sp>
      <p:sp>
        <p:nvSpPr>
          <p:cNvPr id="9" name="check badge 2"/>
          <p:cNvSpPr/>
          <p:nvPr/>
        </p:nvSpPr>
        <p:spPr>
          <a:xfrm>
            <a:off x="4892040" y="1261872"/>
            <a:ext cx="384048" cy="384048"/>
          </a:xfrm>
          <a:prstGeom prst="ellipse">
            <a:avLst/>
          </a:prstGeom>
          <a:solidFill>
            <a:schemeClr val="accent6"/>
          </a:solidFill>
          <a:ln/>
        </p:spPr>
      </p:sp>
      <p:sp>
        <p:nvSpPr>
          <p:cNvPr id="10" name="check badge 2 label"/>
          <p:cNvSpPr txBox="1"/>
          <p:nvPr/>
        </p:nvSpPr>
        <p:spPr>
          <a:xfrm>
            <a:off x="4892040" y="126187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11" name="check head 2"/>
          <p:cNvSpPr txBox="1"/>
          <p:nvPr/>
        </p:nvSpPr>
        <p:spPr>
          <a:xfrm>
            <a:off x="5440680" y="1234440"/>
            <a:ext cx="3063240" cy="41148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Safety reports</a:t>
            </a:r>
            <a:endParaRPr lang="en-US" sz="1800" dirty="0"/>
          </a:p>
        </p:txBody>
      </p:sp>
      <p:sp>
        <p:nvSpPr>
          <p:cNvPr id="12" name="check body 2"/>
          <p:cNvSpPr txBox="1"/>
          <p:nvPr/>
        </p:nvSpPr>
        <p:spPr>
          <a:xfrm>
            <a:off x="4937760" y="1828800"/>
            <a:ext cx="3520440" cy="22860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2"/>
                </a:solidFill>
              </a:rPr>
              <a:t>23 reviews in 12 months flagged as possible safety risks</a:t>
            </a:r>
            <a:endParaRPr lang="en-US" sz="1400" dirty="0"/>
          </a:p>
          <a:p>
            <a:pPr marL="342900" indent="-342900">
              <a:spcAft>
                <a:spcPts val="800"/>
              </a:spcAft>
              <a:buSzPct val="100000"/>
              <a:buChar char="•"/>
            </a:pPr>
            <a:r>
              <a:rPr lang="en-US" sz="1400" dirty="0">
                <a:solidFill>
                  <a:schemeClr val="tx2"/>
                </a:solidFill>
              </a:rPr>
              <a:t>Human audit: 28 of 30 flags genuine; 18 describe a specific incident</a:t>
            </a:r>
            <a:endParaRPr lang="en-US" sz="1400" dirty="0"/>
          </a:p>
          <a:p>
            <a:pPr marL="342900" indent="-342900">
              <a:spcAft>
                <a:spcPts val="800"/>
              </a:spcAft>
              <a:buSzPct val="100000"/>
              <a:buChar char="•"/>
            </a:pPr>
            <a:r>
              <a:rPr lang="en-US" sz="1400" dirty="0">
                <a:solidFill>
                  <a:schemeClr val="tx2"/>
                </a:solidFill>
              </a:rPr>
              <a:t>Today they sit unanswered on a public page. Route them to the safety desk within 24 hours</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40080"/>
          </a:xfrm>
          <a:prstGeom prst="rect">
            <a:avLst/>
          </a:prstGeom>
          <a:noFill/>
          <a:ln/>
        </p:spPr>
        <p:txBody>
          <a:bodyPr wrap="square" lIns="0" tIns="0" rIns="0" bIns="0" rtlCol="0" anchor="ctr"/>
          <a:lstStyle/>
          <a:p>
            <a:pPr indent="0" marL="0">
              <a:buNone/>
            </a:pPr>
            <a:r>
              <a:rPr lang="en-US" sz="3000" b="1" dirty="0">
                <a:solidFill>
                  <a:schemeClr val="tx1"/>
                </a:solidFill>
              </a:rPr>
              <a:t>What to do, in order</a:t>
            </a:r>
            <a:endParaRPr lang="en-US" sz="3000" dirty="0"/>
          </a:p>
        </p:txBody>
      </p:sp>
      <p:sp>
        <p:nvSpPr>
          <p:cNvPr id="3" name="plan card 1"/>
          <p:cNvSpPr/>
          <p:nvPr/>
        </p:nvSpPr>
        <p:spPr>
          <a:xfrm>
            <a:off x="457200" y="1051560"/>
            <a:ext cx="2651760" cy="3063240"/>
          </a:xfrm>
          <a:prstGeom prst="roundRect">
            <a:avLst>
              <a:gd name="adj" fmla="val 2759"/>
            </a:avLst>
          </a:prstGeom>
          <a:solidFill>
            <a:schemeClr val="bg2"/>
          </a:solidFill>
          <a:ln/>
        </p:spPr>
      </p:sp>
      <p:sp>
        <p:nvSpPr>
          <p:cNvPr id="4" name="plan chip 1"/>
          <p:cNvSpPr/>
          <p:nvPr/>
        </p:nvSpPr>
        <p:spPr>
          <a:xfrm>
            <a:off x="640080" y="1207008"/>
            <a:ext cx="1554480" cy="365760"/>
          </a:xfrm>
          <a:prstGeom prst="roundRect">
            <a:avLst>
              <a:gd name="adj" fmla="val 50000"/>
            </a:avLst>
          </a:prstGeom>
          <a:solidFill>
            <a:schemeClr val="tx1"/>
          </a:solidFill>
          <a:ln w="12700">
            <a:solidFill>
              <a:schemeClr val="tx1"/>
            </a:solidFill>
            <a:prstDash val="solid"/>
          </a:ln>
        </p:spPr>
      </p:sp>
      <p:sp>
        <p:nvSpPr>
          <p:cNvPr id="5" name="plan chip label 1"/>
          <p:cNvSpPr txBox="1"/>
          <p:nvPr/>
        </p:nvSpPr>
        <p:spPr>
          <a:xfrm>
            <a:off x="640080" y="1207008"/>
            <a:ext cx="1554480" cy="365760"/>
          </a:xfrm>
          <a:prstGeom prst="rect">
            <a:avLst/>
          </a:prstGeom>
          <a:noFill/>
          <a:ln/>
        </p:spPr>
        <p:txBody>
          <a:bodyPr wrap="square" lIns="0" tIns="0" rIns="0" bIns="0" rtlCol="0" anchor="ctr"/>
          <a:lstStyle/>
          <a:p>
            <a:pPr algn="ctr" indent="0" marL="0">
              <a:buNone/>
            </a:pPr>
            <a:r>
              <a:rPr lang="en-US" sz="1400" b="1" dirty="0">
                <a:solidFill>
                  <a:schemeClr val="bg1"/>
                </a:solidFill>
              </a:rPr>
              <a:t>This week</a:t>
            </a:r>
            <a:endParaRPr lang="en-US" sz="1400" dirty="0"/>
          </a:p>
        </p:txBody>
      </p:sp>
      <p:sp>
        <p:nvSpPr>
          <p:cNvPr id="6" name="plan items 1"/>
          <p:cNvSpPr txBox="1"/>
          <p:nvPr/>
        </p:nvSpPr>
        <p:spPr>
          <a:xfrm>
            <a:off x="640080" y="1737360"/>
            <a:ext cx="2331720" cy="23774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Fix the false install lock-out</a:t>
            </a:r>
            <a:endParaRPr lang="en-US" sz="1400" dirty="0"/>
          </a:p>
          <a:p>
            <a:pPr marL="342900" indent="-342900">
              <a:spcAft>
                <a:spcPts val="600"/>
              </a:spcAft>
              <a:buSzPct val="100000"/>
              <a:buChar char="•"/>
            </a:pPr>
            <a:r>
              <a:rPr lang="en-US" sz="1400" dirty="0">
                <a:solidFill>
                  <a:schemeClr val="tx2"/>
                </a:solidFill>
              </a:rPr>
              <a:t>Staged rollouts that halt on regressions</a:t>
            </a:r>
            <a:endParaRPr lang="en-US" sz="1400" dirty="0"/>
          </a:p>
          <a:p>
            <a:pPr marL="342900" indent="-342900">
              <a:spcAft>
                <a:spcPts val="600"/>
              </a:spcAft>
              <a:buSzPct val="100000"/>
              <a:buChar char="•"/>
            </a:pPr>
            <a:r>
              <a:rPr lang="en-US" sz="1400" dirty="0">
                <a:solidFill>
                  <a:schemeClr val="tx2"/>
                </a:solidFill>
              </a:rPr>
              <a:t>Reply to 1–3★ in 48h (20 drafts ready)</a:t>
            </a:r>
            <a:endParaRPr lang="en-US" sz="1400" dirty="0"/>
          </a:p>
          <a:p>
            <a:pPr marL="342900" indent="-342900">
              <a:spcAft>
                <a:spcPts val="600"/>
              </a:spcAft>
              <a:buSzPct val="100000"/>
              <a:buChar char="•"/>
            </a:pPr>
            <a:r>
              <a:rPr lang="en-US" sz="1400" dirty="0">
                <a:solidFill>
                  <a:schemeClr val="tx2"/>
                </a:solidFill>
              </a:rPr>
              <a:t>Skippable trip rating, no star filter</a:t>
            </a:r>
            <a:endParaRPr lang="en-US" sz="1400" dirty="0"/>
          </a:p>
          <a:p>
            <a:pPr marL="342900" indent="-342900">
              <a:spcAft>
                <a:spcPts val="600"/>
              </a:spcAft>
              <a:buSzPct val="100000"/>
              <a:buChar char="•"/>
            </a:pPr>
            <a:r>
              <a:rPr lang="en-US" sz="1400" dirty="0">
                <a:solidFill>
                  <a:schemeClr val="tx2"/>
                </a:solidFill>
              </a:rPr>
              <a:t>Safety reports to the safety desk</a:t>
            </a:r>
            <a:endParaRPr lang="en-US" sz="1400" dirty="0"/>
          </a:p>
        </p:txBody>
      </p:sp>
      <p:sp>
        <p:nvSpPr>
          <p:cNvPr id="7" name="plan card 2"/>
          <p:cNvSpPr/>
          <p:nvPr/>
        </p:nvSpPr>
        <p:spPr>
          <a:xfrm>
            <a:off x="3246120" y="1051560"/>
            <a:ext cx="2651760" cy="3063240"/>
          </a:xfrm>
          <a:prstGeom prst="roundRect">
            <a:avLst>
              <a:gd name="adj" fmla="val 2759"/>
            </a:avLst>
          </a:prstGeom>
          <a:solidFill>
            <a:schemeClr val="bg2"/>
          </a:solidFill>
          <a:ln/>
        </p:spPr>
      </p:sp>
      <p:sp>
        <p:nvSpPr>
          <p:cNvPr id="8" name="plan chip 2"/>
          <p:cNvSpPr/>
          <p:nvPr/>
        </p:nvSpPr>
        <p:spPr>
          <a:xfrm>
            <a:off x="3429000" y="1207008"/>
            <a:ext cx="1554480" cy="365760"/>
          </a:xfrm>
          <a:prstGeom prst="roundRect">
            <a:avLst>
              <a:gd name="adj" fmla="val 50000"/>
            </a:avLst>
          </a:prstGeom>
          <a:solidFill>
            <a:schemeClr val="bg1"/>
          </a:solidFill>
          <a:ln w="12700">
            <a:solidFill>
              <a:schemeClr val="tx1"/>
            </a:solidFill>
            <a:prstDash val="solid"/>
          </a:ln>
        </p:spPr>
      </p:sp>
      <p:sp>
        <p:nvSpPr>
          <p:cNvPr id="9" name="plan chip label 2"/>
          <p:cNvSpPr txBox="1"/>
          <p:nvPr/>
        </p:nvSpPr>
        <p:spPr>
          <a:xfrm>
            <a:off x="3429000" y="1207008"/>
            <a:ext cx="1554480" cy="365760"/>
          </a:xfrm>
          <a:prstGeom prst="rect">
            <a:avLst/>
          </a:prstGeom>
          <a:noFill/>
          <a:ln/>
        </p:spPr>
        <p:txBody>
          <a:bodyPr wrap="square" lIns="0" tIns="0" rIns="0" bIns="0" rtlCol="0" anchor="ctr"/>
          <a:lstStyle/>
          <a:p>
            <a:pPr algn="ctr" indent="0" marL="0">
              <a:buNone/>
            </a:pPr>
            <a:r>
              <a:rPr lang="en-US" sz="1400" b="1" dirty="0">
                <a:solidFill>
                  <a:schemeClr val="tx1"/>
                </a:solidFill>
              </a:rPr>
              <a:t>Next 30 days</a:t>
            </a:r>
            <a:endParaRPr lang="en-US" sz="1400" dirty="0"/>
          </a:p>
        </p:txBody>
      </p:sp>
      <p:sp>
        <p:nvSpPr>
          <p:cNvPr id="10" name="plan items 2"/>
          <p:cNvSpPr txBox="1"/>
          <p:nvPr/>
        </p:nvSpPr>
        <p:spPr>
          <a:xfrm>
            <a:off x="3429000" y="1737360"/>
            <a:ext cx="2331720" cy="23774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Keep riders signed in</a:t>
            </a:r>
            <a:endParaRPr lang="en-US" sz="1400" dirty="0"/>
          </a:p>
          <a:p>
            <a:pPr marL="342900" indent="-342900">
              <a:spcAft>
                <a:spcPts val="600"/>
              </a:spcAft>
              <a:buSzPct val="100000"/>
              <a:buChar char="•"/>
            </a:pPr>
            <a:r>
              <a:rPr lang="en-US" sz="1400" dirty="0">
                <a:solidFill>
                  <a:schemeClr val="tx2"/>
                </a:solidFill>
              </a:rPr>
              <a:t>Reliable OTP, clear login errors</a:t>
            </a:r>
            <a:endParaRPr lang="en-US" sz="1400" dirty="0"/>
          </a:p>
          <a:p>
            <a:pPr marL="342900" indent="-342900">
              <a:spcAft>
                <a:spcPts val="600"/>
              </a:spcAft>
              <a:buSzPct val="100000"/>
              <a:buChar char="•"/>
            </a:pPr>
            <a:r>
              <a:rPr lang="en-US" sz="1400" dirty="0">
                <a:solidFill>
                  <a:schemeClr val="tx2"/>
                </a:solidFill>
              </a:rPr>
              <a:t>Unambiguous booking, self-serve address</a:t>
            </a:r>
            <a:endParaRPr lang="en-US" sz="1400" dirty="0"/>
          </a:p>
          <a:p>
            <a:pPr marL="342900" indent="-342900">
              <a:spcAft>
                <a:spcPts val="600"/>
              </a:spcAft>
              <a:buSzPct val="100000"/>
              <a:buChar char="•"/>
            </a:pPr>
            <a:r>
              <a:rPr lang="en-US" sz="1400" dirty="0">
                <a:solidFill>
                  <a:schemeClr val="tx2"/>
                </a:solidFill>
              </a:rPr>
              <a:t>Show employer rules when they apply</a:t>
            </a:r>
            <a:endParaRPr lang="en-US" sz="1400" dirty="0"/>
          </a:p>
          <a:p>
            <a:pPr marL="342900" indent="-342900">
              <a:spcAft>
                <a:spcPts val="600"/>
              </a:spcAft>
              <a:buSzPct val="100000"/>
              <a:buChar char="•"/>
            </a:pPr>
            <a:r>
              <a:rPr lang="en-US" sz="1400" dirty="0">
                <a:solidFill>
                  <a:schemeClr val="tx2"/>
                </a:solidFill>
              </a:rPr>
              <a:t>Terms once, no blocking pop-ups</a:t>
            </a:r>
            <a:endParaRPr lang="en-US" sz="1400" dirty="0"/>
          </a:p>
        </p:txBody>
      </p:sp>
      <p:sp>
        <p:nvSpPr>
          <p:cNvPr id="11" name="plan card 3"/>
          <p:cNvSpPr/>
          <p:nvPr/>
        </p:nvSpPr>
        <p:spPr>
          <a:xfrm>
            <a:off x="6035040" y="1051560"/>
            <a:ext cx="2651760" cy="3063240"/>
          </a:xfrm>
          <a:prstGeom prst="roundRect">
            <a:avLst>
              <a:gd name="adj" fmla="val 2759"/>
            </a:avLst>
          </a:prstGeom>
          <a:solidFill>
            <a:schemeClr val="bg2"/>
          </a:solidFill>
          <a:ln/>
        </p:spPr>
      </p:sp>
      <p:sp>
        <p:nvSpPr>
          <p:cNvPr id="12" name="plan chip 3"/>
          <p:cNvSpPr/>
          <p:nvPr/>
        </p:nvSpPr>
        <p:spPr>
          <a:xfrm>
            <a:off x="6217920" y="1207008"/>
            <a:ext cx="1554480" cy="365760"/>
          </a:xfrm>
          <a:prstGeom prst="roundRect">
            <a:avLst>
              <a:gd name="adj" fmla="val 50000"/>
            </a:avLst>
          </a:prstGeom>
          <a:solidFill>
            <a:schemeClr val="bg1"/>
          </a:solidFill>
          <a:ln w="12700">
            <a:solidFill>
              <a:schemeClr val="tx1"/>
            </a:solidFill>
            <a:prstDash val="solid"/>
          </a:ln>
        </p:spPr>
      </p:sp>
      <p:sp>
        <p:nvSpPr>
          <p:cNvPr id="13" name="plan chip label 3"/>
          <p:cNvSpPr txBox="1"/>
          <p:nvPr/>
        </p:nvSpPr>
        <p:spPr>
          <a:xfrm>
            <a:off x="6217920" y="1207008"/>
            <a:ext cx="1554480" cy="365760"/>
          </a:xfrm>
          <a:prstGeom prst="rect">
            <a:avLst/>
          </a:prstGeom>
          <a:noFill/>
          <a:ln/>
        </p:spPr>
        <p:txBody>
          <a:bodyPr wrap="square" lIns="0" tIns="0" rIns="0" bIns="0" rtlCol="0" anchor="ctr"/>
          <a:lstStyle/>
          <a:p>
            <a:pPr algn="ctr" indent="0" marL="0">
              <a:buNone/>
            </a:pPr>
            <a:r>
              <a:rPr lang="en-US" sz="1400" b="1" dirty="0">
                <a:solidFill>
                  <a:schemeClr val="tx1"/>
                </a:solidFill>
              </a:rPr>
              <a:t>Next 90 days</a:t>
            </a:r>
            <a:endParaRPr lang="en-US" sz="1400" dirty="0"/>
          </a:p>
        </p:txBody>
      </p:sp>
      <p:sp>
        <p:nvSpPr>
          <p:cNvPr id="14" name="plan items 3"/>
          <p:cNvSpPr txBox="1"/>
          <p:nvPr/>
        </p:nvSpPr>
        <p:spPr>
          <a:xfrm>
            <a:off x="6217920" y="1737360"/>
            <a:ext cx="2331720" cy="23774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Honest tracking and ETAs</a:t>
            </a:r>
            <a:endParaRPr lang="en-US" sz="1400" dirty="0"/>
          </a:p>
          <a:p>
            <a:pPr marL="342900" indent="-342900">
              <a:spcAft>
                <a:spcPts val="600"/>
              </a:spcAft>
              <a:buSzPct val="100000"/>
              <a:buChar char="•"/>
            </a:pPr>
            <a:r>
              <a:rPr lang="en-US" sz="1400" dirty="0">
                <a:solidFill>
                  <a:schemeClr val="tx2"/>
                </a:solidFill>
              </a:rPr>
              <a:t>In-app complaints with status</a:t>
            </a:r>
            <a:endParaRPr lang="en-US" sz="1400" dirty="0"/>
          </a:p>
          <a:p>
            <a:pPr marL="342900" indent="-342900">
              <a:spcAft>
                <a:spcPts val="600"/>
              </a:spcAft>
              <a:buSzPct val="100000"/>
              <a:buChar char="•"/>
            </a:pPr>
            <a:r>
              <a:rPr lang="en-US" sz="1400" dirty="0">
                <a:solidFill>
                  <a:schemeClr val="tx2"/>
                </a:solidFill>
              </a:rPr>
              <a:t>Service complaints to transport desks</a:t>
            </a:r>
            <a:endParaRPr lang="en-US" sz="1400" dirty="0"/>
          </a:p>
          <a:p>
            <a:pPr marL="342900" indent="-342900">
              <a:spcAft>
                <a:spcPts val="600"/>
              </a:spcAft>
              <a:buSzPct val="100000"/>
              <a:buChar char="•"/>
            </a:pPr>
            <a:r>
              <a:rPr lang="en-US" sz="1400" dirty="0">
                <a:solidFill>
                  <a:schemeClr val="tx2"/>
                </a:solidFill>
              </a:rPr>
              <a:t>Ask happy riders at the right moment</a:t>
            </a:r>
            <a:endParaRPr lang="en-US" sz="1400" dirty="0"/>
          </a:p>
        </p:txBody>
      </p:sp>
      <p:sp>
        <p:nvSpPr>
          <p:cNvPr id="15" name="expected impact"/>
          <p:cNvSpPr txBox="1"/>
          <p:nvPr/>
        </p:nvSpPr>
        <p:spPr>
          <a:xfrm>
            <a:off x="457200" y="4279392"/>
            <a:ext cx="8229600" cy="365760"/>
          </a:xfrm>
          <a:prstGeom prst="rect">
            <a:avLst/>
          </a:prstGeom>
          <a:noFill/>
          <a:ln/>
        </p:spPr>
        <p:txBody>
          <a:bodyPr wrap="square" lIns="0" tIns="0" rIns="0" bIns="0" rtlCol="0" anchor="ctr"/>
          <a:lstStyle/>
          <a:p>
            <a:pPr indent="0" marL="0">
              <a:buNone/>
            </a:pPr>
            <a:r>
              <a:rPr lang="en-US" sz="1400" b="1" dirty="0">
                <a:solidFill>
                  <a:schemeClr val="tx1"/>
                </a:solidFill>
              </a:rPr>
              <a:t>Expected: </a:t>
            </a:r>
            <a:pPr indent="0" marL="0">
              <a:buNone/>
            </a:pPr>
            <a:r>
              <a:rPr lang="en-US" sz="1400" dirty="0">
                <a:solidFill>
                  <a:schemeClr val="tx2"/>
                </a:solidFill>
              </a:rPr>
              <a:t>halve the top four themes and written reviews rise from 3.84 to ~4.0; 1★ share falls ~5 points.</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40080"/>
          </a:xfrm>
          <a:prstGeom prst="rect">
            <a:avLst/>
          </a:prstGeom>
          <a:noFill/>
          <a:ln/>
        </p:spPr>
        <p:txBody>
          <a:bodyPr wrap="square" lIns="0" tIns="0" rIns="0" bIns="0" rtlCol="0" anchor="ctr"/>
          <a:lstStyle/>
          <a:p>
            <a:pPr indent="0" marL="0">
              <a:buNone/>
            </a:pPr>
            <a:r>
              <a:rPr lang="en-US" sz="3000" b="1" dirty="0">
                <a:solidFill>
                  <a:schemeClr val="bg1"/>
                </a:solidFill>
              </a:rPr>
              <a:t>How we'll know it worked</a:t>
            </a:r>
            <a:endParaRPr lang="en-US" sz="3000" dirty="0"/>
          </a:p>
        </p:txBody>
      </p:sp>
      <p:sp>
        <p:nvSpPr>
          <p:cNvPr id="3" name="monitor badge 1"/>
          <p:cNvSpPr/>
          <p:nvPr/>
        </p:nvSpPr>
        <p:spPr>
          <a:xfrm>
            <a:off x="457200" y="1097280"/>
            <a:ext cx="384048" cy="384048"/>
          </a:xfrm>
          <a:prstGeom prst="ellipse">
            <a:avLst/>
          </a:prstGeom>
          <a:solidFill>
            <a:schemeClr val="accent1"/>
          </a:solidFill>
          <a:ln/>
        </p:spPr>
      </p:sp>
      <p:sp>
        <p:nvSpPr>
          <p:cNvPr id="4" name="monitor badge 1 label"/>
          <p:cNvSpPr txBox="1"/>
          <p:nvPr/>
        </p:nvSpPr>
        <p:spPr>
          <a:xfrm>
            <a:off x="457200" y="1097280"/>
            <a:ext cx="384048" cy="384048"/>
          </a:xfrm>
          <a:prstGeom prst="rect">
            <a:avLst/>
          </a:prstGeom>
          <a:no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5" name="monitor row 1"/>
          <p:cNvSpPr txBox="1"/>
          <p:nvPr/>
        </p:nvSpPr>
        <p:spPr>
          <a:xfrm>
            <a:off x="1005840" y="1042416"/>
            <a:ext cx="4572000" cy="548640"/>
          </a:xfrm>
          <a:prstGeom prst="rect">
            <a:avLst/>
          </a:prstGeom>
          <a:noFill/>
          <a:ln/>
        </p:spPr>
        <p:txBody>
          <a:bodyPr wrap="square" lIns="0" tIns="0" rIns="0" bIns="0" rtlCol="0" anchor="ctr"/>
          <a:lstStyle/>
          <a:p>
            <a:pPr indent="0" marL="0">
              <a:buNone/>
            </a:pPr>
            <a:r>
              <a:rPr lang="en-US" sz="1400" b="1" dirty="0">
                <a:solidFill>
                  <a:schemeClr val="accent1"/>
                </a:solidFill>
              </a:rPr>
              <a:t>Daily: </a:t>
            </a:r>
            <a:pPr indent="0" marL="0">
              <a:buNone/>
            </a:pPr>
            <a:r>
              <a:rPr lang="en-US" sz="1400" dirty="0">
                <a:solidFill>
                  <a:schemeClr val="bg1"/>
                </a:solidFill>
              </a:rPr>
              <a:t>store rating snapshot; new reviews labelled; dashboard refreshed</a:t>
            </a:r>
            <a:endParaRPr lang="en-US" sz="1400" dirty="0"/>
          </a:p>
        </p:txBody>
      </p:sp>
      <p:sp>
        <p:nvSpPr>
          <p:cNvPr id="6" name="monitor badge 2"/>
          <p:cNvSpPr/>
          <p:nvPr/>
        </p:nvSpPr>
        <p:spPr>
          <a:xfrm>
            <a:off x="457200" y="1920240"/>
            <a:ext cx="384048" cy="384048"/>
          </a:xfrm>
          <a:prstGeom prst="ellipse">
            <a:avLst/>
          </a:prstGeom>
          <a:solidFill>
            <a:schemeClr val="accent1"/>
          </a:solidFill>
          <a:ln/>
        </p:spPr>
      </p:sp>
      <p:sp>
        <p:nvSpPr>
          <p:cNvPr id="7" name="monitor badge 2 label"/>
          <p:cNvSpPr txBox="1"/>
          <p:nvPr/>
        </p:nvSpPr>
        <p:spPr>
          <a:xfrm>
            <a:off x="457200" y="1920240"/>
            <a:ext cx="384048" cy="384048"/>
          </a:xfrm>
          <a:prstGeom prst="rect">
            <a:avLst/>
          </a:prstGeom>
          <a:no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8" name="monitor row 2"/>
          <p:cNvSpPr txBox="1"/>
          <p:nvPr/>
        </p:nvSpPr>
        <p:spPr>
          <a:xfrm>
            <a:off x="1005840" y="1865376"/>
            <a:ext cx="4572000" cy="548640"/>
          </a:xfrm>
          <a:prstGeom prst="rect">
            <a:avLst/>
          </a:prstGeom>
          <a:noFill/>
          <a:ln/>
        </p:spPr>
        <p:txBody>
          <a:bodyPr wrap="square" lIns="0" tIns="0" rIns="0" bIns="0" rtlCol="0" anchor="ctr"/>
          <a:lstStyle/>
          <a:p>
            <a:pPr indent="0" marL="0">
              <a:buNone/>
            </a:pPr>
            <a:r>
              <a:rPr lang="en-US" sz="1400" b="1" dirty="0">
                <a:solidFill>
                  <a:schemeClr val="accent1"/>
                </a:solidFill>
              </a:rPr>
              <a:t>Weekly: </a:t>
            </a:r>
            <a:pPr indent="0" marL="0">
              <a:buNone/>
            </a:pPr>
            <a:r>
              <a:rPr lang="en-US" sz="1400" dirty="0">
                <a:solidFill>
                  <a:schemeClr val="bg1"/>
                </a:solidFill>
              </a:rPr>
              <a:t>the answer posted as a GitHub Issue, with a release-watch alert</a:t>
            </a:r>
            <a:endParaRPr lang="en-US" sz="1400" dirty="0"/>
          </a:p>
        </p:txBody>
      </p:sp>
      <p:sp>
        <p:nvSpPr>
          <p:cNvPr id="9" name="monitor badge 3"/>
          <p:cNvSpPr/>
          <p:nvPr/>
        </p:nvSpPr>
        <p:spPr>
          <a:xfrm>
            <a:off x="457200" y="2743200"/>
            <a:ext cx="384048" cy="384048"/>
          </a:xfrm>
          <a:prstGeom prst="ellipse">
            <a:avLst/>
          </a:prstGeom>
          <a:solidFill>
            <a:schemeClr val="accent1"/>
          </a:solidFill>
          <a:ln/>
        </p:spPr>
      </p:sp>
      <p:sp>
        <p:nvSpPr>
          <p:cNvPr id="10" name="monitor badge 3 label"/>
          <p:cNvSpPr txBox="1"/>
          <p:nvPr/>
        </p:nvSpPr>
        <p:spPr>
          <a:xfrm>
            <a:off x="457200" y="2743200"/>
            <a:ext cx="384048" cy="384048"/>
          </a:xfrm>
          <a:prstGeom prst="rect">
            <a:avLst/>
          </a:prstGeom>
          <a:no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11" name="monitor row 3"/>
          <p:cNvSpPr txBox="1"/>
          <p:nvPr/>
        </p:nvSpPr>
        <p:spPr>
          <a:xfrm>
            <a:off x="1005840" y="2688336"/>
            <a:ext cx="4572000" cy="548640"/>
          </a:xfrm>
          <a:prstGeom prst="rect">
            <a:avLst/>
          </a:prstGeom>
          <a:noFill/>
          <a:ln/>
        </p:spPr>
        <p:txBody>
          <a:bodyPr wrap="square" lIns="0" tIns="0" rIns="0" bIns="0" rtlCol="0" anchor="ctr"/>
          <a:lstStyle/>
          <a:p>
            <a:pPr indent="0" marL="0">
              <a:buNone/>
            </a:pPr>
            <a:r>
              <a:rPr lang="en-US" sz="1400" b="1" dirty="0">
                <a:solidFill>
                  <a:schemeClr val="accent1"/>
                </a:solidFill>
              </a:rPr>
              <a:t>Always: </a:t>
            </a:r>
            <a:pPr indent="0" marL="0">
              <a:buNone/>
            </a:pPr>
            <a:r>
              <a:rPr lang="en-US" sz="1400" dirty="0">
                <a:solidFill>
                  <a:schemeClr val="bg1"/>
                </a:solidFill>
              </a:rPr>
              <a:t>a queue for safety reports, contradicting stars and unclear reviews</a:t>
            </a:r>
            <a:endParaRPr lang="en-US" sz="1400" dirty="0"/>
          </a:p>
        </p:txBody>
      </p:sp>
      <p:sp>
        <p:nvSpPr>
          <p:cNvPr id="12" name="monitor badge 4"/>
          <p:cNvSpPr/>
          <p:nvPr/>
        </p:nvSpPr>
        <p:spPr>
          <a:xfrm>
            <a:off x="457200" y="3566160"/>
            <a:ext cx="384048" cy="384048"/>
          </a:xfrm>
          <a:prstGeom prst="ellipse">
            <a:avLst/>
          </a:prstGeom>
          <a:solidFill>
            <a:schemeClr val="accent1"/>
          </a:solidFill>
          <a:ln/>
        </p:spPr>
      </p:sp>
      <p:sp>
        <p:nvSpPr>
          <p:cNvPr id="13" name="monitor badge 4 label"/>
          <p:cNvSpPr txBox="1"/>
          <p:nvPr/>
        </p:nvSpPr>
        <p:spPr>
          <a:xfrm>
            <a:off x="457200" y="3566160"/>
            <a:ext cx="384048" cy="384048"/>
          </a:xfrm>
          <a:prstGeom prst="rect">
            <a:avLst/>
          </a:prstGeom>
          <a:no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14" name="monitor row 4"/>
          <p:cNvSpPr txBox="1"/>
          <p:nvPr/>
        </p:nvSpPr>
        <p:spPr>
          <a:xfrm>
            <a:off x="1005840" y="3511296"/>
            <a:ext cx="4572000" cy="548640"/>
          </a:xfrm>
          <a:prstGeom prst="rect">
            <a:avLst/>
          </a:prstGeom>
          <a:noFill/>
          <a:ln/>
        </p:spPr>
        <p:txBody>
          <a:bodyPr wrap="square" lIns="0" tIns="0" rIns="0" bIns="0" rtlCol="0" anchor="ctr"/>
          <a:lstStyle/>
          <a:p>
            <a:pPr indent="0" marL="0">
              <a:buNone/>
            </a:pPr>
            <a:r>
              <a:rPr lang="en-US" sz="1400" b="1" dirty="0">
                <a:solidFill>
                  <a:schemeClr val="accent1"/>
                </a:solidFill>
              </a:rPr>
              <a:t>Cost: </a:t>
            </a:r>
            <a:pPr indent="0" marL="0">
              <a:buNone/>
            </a:pPr>
            <a:r>
              <a:rPr lang="en-US" sz="1400" dirty="0">
                <a:solidFill>
                  <a:schemeClr val="bg1"/>
                </a:solidFill>
              </a:rPr>
              <a:t>free on keyword rules; about $0.02 a week with Claude Sonnet 5.5</a:t>
            </a:r>
            <a:endParaRPr lang="en-US" sz="1400" dirty="0"/>
          </a:p>
        </p:txBody>
      </p:sp>
      <p:sp>
        <p:nvSpPr>
          <p:cNvPr id="15" name="accuracy value"/>
          <p:cNvSpPr txBox="1"/>
          <p:nvPr/>
        </p:nvSpPr>
        <p:spPr>
          <a:xfrm>
            <a:off x="6035040" y="1097280"/>
            <a:ext cx="2651760" cy="73152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94%</a:t>
            </a:r>
            <a:endParaRPr lang="en-US" sz="4400" dirty="0"/>
          </a:p>
        </p:txBody>
      </p:sp>
      <p:sp>
        <p:nvSpPr>
          <p:cNvPr id="16" name="accuracy label"/>
          <p:cNvSpPr txBox="1"/>
          <p:nvPr/>
        </p:nvSpPr>
        <p:spPr>
          <a:xfrm>
            <a:off x="6035040" y="1828800"/>
            <a:ext cx="2651760" cy="640080"/>
          </a:xfrm>
          <a:prstGeom prst="rect">
            <a:avLst/>
          </a:prstGeom>
          <a:noFill/>
          <a:ln/>
        </p:spPr>
        <p:txBody>
          <a:bodyPr wrap="square" lIns="0" tIns="0" rIns="0" bIns="0" rtlCol="0" anchor="t"/>
          <a:lstStyle/>
          <a:p>
            <a:pPr indent="0" marL="0">
              <a:buNone/>
            </a:pPr>
            <a:r>
              <a:rPr lang="en-US" sz="1400" dirty="0">
                <a:solidFill>
                  <a:schemeClr val="bg2"/>
                </a:solidFill>
              </a:rPr>
              <a:t>of AI labels right in a human audit; every correction recorded</a:t>
            </a:r>
            <a:endParaRPr lang="en-US" sz="1400" dirty="0"/>
          </a:p>
        </p:txBody>
      </p:sp>
      <p:sp>
        <p:nvSpPr>
          <p:cNvPr id="17" name="links"/>
          <p:cNvSpPr txBox="1"/>
          <p:nvPr/>
        </p:nvSpPr>
        <p:spPr>
          <a:xfrm>
            <a:off x="6035040" y="2743200"/>
            <a:ext cx="2651760" cy="1737360"/>
          </a:xfrm>
          <a:prstGeom prst="rect">
            <a:avLst/>
          </a:prstGeom>
          <a:noFill/>
          <a:ln/>
        </p:spPr>
        <p:txBody>
          <a:bodyPr wrap="square" lIns="0" tIns="0" rIns="0" bIns="0" rtlCol="0" anchor="t"/>
          <a:lstStyle/>
          <a:p>
            <a:pPr indent="0" marL="0">
              <a:spcAft>
                <a:spcPts val="400"/>
              </a:spcAft>
              <a:buNone/>
            </a:pPr>
            <a:r>
              <a:rPr lang="en-US" sz="1100" b="1" dirty="0">
                <a:solidFill>
                  <a:schemeClr val="bg1"/>
                </a:solidFill>
              </a:rPr>
              <a:t>Dashboard</a:t>
            </a:r>
            <a:endParaRPr lang="en-US" sz="1100" dirty="0"/>
          </a:p>
          <a:p>
            <a:pPr indent="0" marL="0">
              <a:spcAft>
                <a:spcPts val="400"/>
              </a:spcAft>
              <a:buNone/>
            </a:pPr>
            <a:r>
              <a:rPr lang="en-US" sz="1100" u="sng" dirty="0">
                <a:solidFill>
                  <a:schemeClr val="bg2"/>
                </a:solidFill>
                <a:hlinkClick r:id="rId1" invalidUrl="" action="" tgtFrame="" tooltip="" history="1" highlightClick="0" endSnd="0">
                  <a:extLst>
                    <a:ext uri="{A12FA001-AC4F-418D-AE19-62706E023703}">
                      <ahyp:hlinkClr xmlns:ahyp="http://schemas.microsoft.com/office/drawing/2018/hyperlinkcolor" val="tx"/>
                    </a:ext>
                  </a:extLst>
                </a:hlinkClick>
              </a:rPr>
              <a:t>abhijit-kumar-github.github.io/FDE-Case-Study--MoveInSync</a:t>
            </a:r>
            <a:endParaRPr lang="en-US" sz="1100" dirty="0"/>
          </a:p>
          <a:p>
            <a:pPr indent="0" marL="0">
              <a:spcAft>
                <a:spcPts val="400"/>
              </a:spcAft>
              <a:buNone/>
            </a:pPr>
            <a:r>
              <a:rPr lang="en-US" sz="1100" b="1" dirty="0">
                <a:solidFill>
                  <a:schemeClr val="bg1"/>
                </a:solidFill>
              </a:rPr>
              <a:t>Code, data, method</a:t>
            </a:r>
            <a:endParaRPr lang="en-US" sz="1100" dirty="0"/>
          </a:p>
          <a:p>
            <a:pPr indent="0" marL="0">
              <a:spcAft>
                <a:spcPts val="400"/>
              </a:spcAft>
              <a:buNone/>
            </a:pPr>
            <a:r>
              <a:rPr lang="en-US" sz="1100" u="sng" dirty="0">
                <a:solidFill>
                  <a:schemeClr val="bg2"/>
                </a:solidFill>
                <a:hlinkClick r:id="rId2" invalidUrl="" action="" tgtFrame="" tooltip="" history="1" highlightClick="0" endSnd="0">
                  <a:extLst>
                    <a:ext uri="{A12FA001-AC4F-418D-AE19-62706E023703}">
                      <ahyp:hlinkClr xmlns:ahyp="http://schemas.microsoft.com/office/drawing/2018/hyperlinkcolor" val="tx"/>
                    </a:ext>
                  </a:extLst>
                </a:hlinkClick>
              </a:rPr>
              <a:t>github.com/Abhijit-Kumar-GitHub/FDE-Case-Study--MoveInSync</a:t>
            </a:r>
            <a:endParaRPr lang="en-US" sz="11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theme/theme1.xml><?xml version="1.0" encoding="utf-8"?>
<a:theme xmlns:a="http://schemas.openxmlformats.org/drawingml/2006/main" name="MoveInSync Ratings">
  <a:themeElements>
    <a:clrScheme name="MoveInSync Ratings">
      <a:dk1>
        <a:srgbClr val="14213D"/>
      </a:dk1>
      <a:lt1>
        <a:srgbClr val="FFFFFF"/>
      </a:lt1>
      <a:dk2>
        <a:srgbClr val="3D4A5C"/>
      </a:dk2>
      <a:lt2>
        <a:srgbClr val="F3F4F6"/>
      </a:lt2>
      <a:accent1>
        <a:srgbClr val="F2A541"/>
      </a:accent1>
      <a:accent2>
        <a:srgbClr val="2A6F97"/>
      </a:accent2>
      <a:accent3>
        <a:srgbClr val="E76F51"/>
      </a:accent3>
      <a:accent4>
        <a:srgbClr val="2A9D8F"/>
      </a:accent4>
      <a:accent5>
        <a:srgbClr val="9AA5B1"/>
      </a:accent5>
      <a:accent6>
        <a:srgbClr val="C0392B"/>
      </a:accent6>
      <a:hlink>
        <a:srgbClr val="2A6F97"/>
      </a:hlink>
      <a:folHlink>
        <a:srgbClr val="6B7280"/>
      </a:folHlink>
    </a:clrScheme>
    <a:fontScheme name="MoveInSync Rating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Play Store ratings: what is actually wrong, and what to fix first</dc:title>
  <dc:subject>PptxGenJS Presentation</dc:subject>
  <dc:creator>Abhijit Kumar</dc:creator>
  <cp:lastModifiedBy>Abhijit Kumar</cp:lastModifiedBy>
  <cp:revision>1</cp:revision>
  <dcterms:created xsi:type="dcterms:W3CDTF">2026-10-12T21:38:49Z</dcterms:created>
  <dcterms:modified xsi:type="dcterms:W3CDTF">2026-10-12T21:38:49Z</dcterms:modified>
</cp:coreProperties>
</file>